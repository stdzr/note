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7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9072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1.png"/><Relationship Id="rId10" Type="http://schemas.openxmlformats.org/officeDocument/2006/relationships/image" Target="../media/image17.png"/><Relationship Id="rId19" Type="http://schemas.openxmlformats.org/officeDocument/2006/relationships/image" Target="../media/image25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3.png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28.png"/><Relationship Id="rId5" Type="http://schemas.openxmlformats.org/officeDocument/2006/relationships/image" Target="../media/image1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4" Type="http://schemas.openxmlformats.org/officeDocument/2006/relationships/image" Target="../media/image1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28.png"/><Relationship Id="rId5" Type="http://schemas.openxmlformats.org/officeDocument/2006/relationships/image" Target="../media/image12.png"/><Relationship Id="rId10" Type="http://schemas.openxmlformats.org/officeDocument/2006/relationships/image" Target="../media/image38.png"/><Relationship Id="rId4" Type="http://schemas.openxmlformats.org/officeDocument/2006/relationships/image" Target="../media/image11.png"/><Relationship Id="rId9" Type="http://schemas.openxmlformats.org/officeDocument/2006/relationships/image" Target="../media/image37.png"/><Relationship Id="rId14" Type="http://schemas.openxmlformats.org/officeDocument/2006/relationships/image" Target="../media/image3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43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42.png"/><Relationship Id="rId5" Type="http://schemas.openxmlformats.org/officeDocument/2006/relationships/image" Target="../media/image12.png"/><Relationship Id="rId15" Type="http://schemas.openxmlformats.org/officeDocument/2006/relationships/image" Target="../media/image45.png"/><Relationship Id="rId10" Type="http://schemas.openxmlformats.org/officeDocument/2006/relationships/image" Target="../media/image41.png"/><Relationship Id="rId4" Type="http://schemas.openxmlformats.org/officeDocument/2006/relationships/image" Target="../media/image11.png"/><Relationship Id="rId9" Type="http://schemas.openxmlformats.org/officeDocument/2006/relationships/image" Target="../media/image40.png"/><Relationship Id="rId14" Type="http://schemas.openxmlformats.org/officeDocument/2006/relationships/image" Target="../media/image4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0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48.png"/><Relationship Id="rId5" Type="http://schemas.openxmlformats.org/officeDocument/2006/relationships/image" Target="../media/image12.png"/><Relationship Id="rId15" Type="http://schemas.openxmlformats.org/officeDocument/2006/relationships/image" Target="../media/image52.png"/><Relationship Id="rId10" Type="http://schemas.openxmlformats.org/officeDocument/2006/relationships/image" Target="../media/image41.png"/><Relationship Id="rId4" Type="http://schemas.openxmlformats.org/officeDocument/2006/relationships/image" Target="../media/image11.png"/><Relationship Id="rId9" Type="http://schemas.openxmlformats.org/officeDocument/2006/relationships/image" Target="../media/image47.png"/><Relationship Id="rId14" Type="http://schemas.openxmlformats.org/officeDocument/2006/relationships/image" Target="../media/image5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8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12" Type="http://schemas.openxmlformats.org/officeDocument/2006/relationships/image" Target="../media/image5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31.png"/><Relationship Id="rId5" Type="http://schemas.openxmlformats.org/officeDocument/2006/relationships/image" Target="../media/image12.png"/><Relationship Id="rId10" Type="http://schemas.openxmlformats.org/officeDocument/2006/relationships/image" Target="../media/image56.png"/><Relationship Id="rId4" Type="http://schemas.openxmlformats.org/officeDocument/2006/relationships/image" Target="../media/image11.png"/><Relationship Id="rId9" Type="http://schemas.openxmlformats.org/officeDocument/2006/relationships/image" Target="../media/image55.png"/><Relationship Id="rId14" Type="http://schemas.openxmlformats.org/officeDocument/2006/relationships/image" Target="../media/image5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64.png"/><Relationship Id="rId18" Type="http://schemas.openxmlformats.org/officeDocument/2006/relationships/image" Target="../media/image69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12" Type="http://schemas.openxmlformats.org/officeDocument/2006/relationships/image" Target="../media/image63.png"/><Relationship Id="rId17" Type="http://schemas.openxmlformats.org/officeDocument/2006/relationships/image" Target="../media/image68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62.png"/><Relationship Id="rId5" Type="http://schemas.openxmlformats.org/officeDocument/2006/relationships/image" Target="../media/image12.png"/><Relationship Id="rId15" Type="http://schemas.openxmlformats.org/officeDocument/2006/relationships/image" Target="../media/image66.png"/><Relationship Id="rId10" Type="http://schemas.openxmlformats.org/officeDocument/2006/relationships/image" Target="../media/image61.png"/><Relationship Id="rId19" Type="http://schemas.openxmlformats.org/officeDocument/2006/relationships/image" Target="../media/image70.png"/><Relationship Id="rId4" Type="http://schemas.openxmlformats.org/officeDocument/2006/relationships/image" Target="../media/image11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75.png"/><Relationship Id="rId18" Type="http://schemas.openxmlformats.org/officeDocument/2006/relationships/image" Target="../media/image80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12" Type="http://schemas.openxmlformats.org/officeDocument/2006/relationships/image" Target="../media/image74.png"/><Relationship Id="rId17" Type="http://schemas.openxmlformats.org/officeDocument/2006/relationships/image" Target="../media/image79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7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73.png"/><Relationship Id="rId5" Type="http://schemas.openxmlformats.org/officeDocument/2006/relationships/image" Target="../media/image12.png"/><Relationship Id="rId15" Type="http://schemas.openxmlformats.org/officeDocument/2006/relationships/image" Target="../media/image77.png"/><Relationship Id="rId10" Type="http://schemas.openxmlformats.org/officeDocument/2006/relationships/image" Target="../media/image72.png"/><Relationship Id="rId19" Type="http://schemas.openxmlformats.org/officeDocument/2006/relationships/image" Target="../media/image81.png"/><Relationship Id="rId4" Type="http://schemas.openxmlformats.org/officeDocument/2006/relationships/image" Target="../media/image11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85.png"/><Relationship Id="rId5" Type="http://schemas.openxmlformats.org/officeDocument/2006/relationships/image" Target="../media/image12.png"/><Relationship Id="rId10" Type="http://schemas.openxmlformats.org/officeDocument/2006/relationships/image" Target="../media/image84.png"/><Relationship Id="rId4" Type="http://schemas.openxmlformats.org/officeDocument/2006/relationships/image" Target="../media/image11.png"/><Relationship Id="rId9" Type="http://schemas.openxmlformats.org/officeDocument/2006/relationships/image" Target="../media/image8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990" y="380990"/>
            <a:ext cx="914377" cy="914377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6328" y="380990"/>
            <a:ext cx="914377" cy="914377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990" y="5562461"/>
            <a:ext cx="914377" cy="914377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96328" y="5562461"/>
            <a:ext cx="914377" cy="914377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380990" y="6476838"/>
            <a:ext cx="1571205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SYS.VER.1.0 // 2026.04.18</a:t>
            </a:r>
            <a:endParaRPr lang="en-US" sz="900" dirty="0"/>
          </a:p>
        </p:txBody>
      </p:sp>
      <p:sp>
        <p:nvSpPr>
          <p:cNvPr id="8" name="Text 1"/>
          <p:cNvSpPr/>
          <p:nvPr/>
        </p:nvSpPr>
        <p:spPr>
          <a:xfrm>
            <a:off x="10782030" y="6476838"/>
            <a:ext cx="1047343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1280×720 // 60Hz</a:t>
            </a:r>
            <a:endParaRPr lang="en-US" sz="900" dirty="0"/>
          </a:p>
        </p:txBody>
      </p:sp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05272" y="1552536"/>
            <a:ext cx="761981" cy="9525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81550" y="1447764"/>
            <a:ext cx="228594" cy="228594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442" y="1552536"/>
            <a:ext cx="761981" cy="9525"/>
          </a:xfrm>
          <a:prstGeom prst="rect">
            <a:avLst/>
          </a:prstGeom>
        </p:spPr>
      </p:pic>
      <p:sp>
        <p:nvSpPr>
          <p:cNvPr id="12" name="Text 2"/>
          <p:cNvSpPr/>
          <p:nvPr/>
        </p:nvSpPr>
        <p:spPr>
          <a:xfrm>
            <a:off x="4676658" y="2000200"/>
            <a:ext cx="2866573" cy="1019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3D迷宫</a:t>
            </a:r>
            <a:endParaRPr lang="en-US" sz="7200" dirty="0"/>
          </a:p>
        </p:txBody>
      </p:sp>
      <p:sp>
        <p:nvSpPr>
          <p:cNvPr id="13" name="Text 3"/>
          <p:cNvSpPr/>
          <p:nvPr/>
        </p:nvSpPr>
        <p:spPr>
          <a:xfrm>
            <a:off x="4314717" y="2914577"/>
            <a:ext cx="3580930" cy="1019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探险游戏</a:t>
            </a:r>
            <a:endParaRPr lang="en-US" sz="7200" dirty="0"/>
          </a:p>
        </p:txBody>
      </p:sp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09925" y="4190895"/>
            <a:ext cx="4190895" cy="9525"/>
          </a:xfrm>
          <a:prstGeom prst="rect">
            <a:avLst/>
          </a:prstGeom>
        </p:spPr>
      </p:pic>
      <p:sp>
        <p:nvSpPr>
          <p:cNvPr id="15" name="Text 4"/>
          <p:cNvSpPr/>
          <p:nvPr/>
        </p:nvSpPr>
        <p:spPr>
          <a:xfrm>
            <a:off x="4009925" y="4505212"/>
            <a:ext cx="1304512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51单片机架构</a:t>
            </a:r>
            <a:endParaRPr lang="en-US" sz="1200" dirty="0"/>
          </a:p>
        </p:txBody>
      </p:sp>
      <p:sp>
        <p:nvSpPr>
          <p:cNvPr id="16" name="Text 5"/>
          <p:cNvSpPr/>
          <p:nvPr/>
        </p:nvSpPr>
        <p:spPr>
          <a:xfrm>
            <a:off x="5524362" y="4514737"/>
            <a:ext cx="1171165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实时3D渲染</a:t>
            </a:r>
            <a:endParaRPr lang="en-US" sz="1200" dirty="0"/>
          </a:p>
        </p:txBody>
      </p:sp>
      <p:sp>
        <p:nvSpPr>
          <p:cNvPr id="17" name="Text 6"/>
          <p:cNvSpPr/>
          <p:nvPr/>
        </p:nvSpPr>
        <p:spPr>
          <a:xfrm>
            <a:off x="6914977" y="4505212"/>
            <a:ext cx="1294987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硬件限制突破</a:t>
            </a:r>
            <a:endParaRPr lang="en-US" sz="1200" dirty="0"/>
          </a:p>
        </p:txBody>
      </p:sp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4857" y="5352916"/>
            <a:ext cx="85723" cy="85723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86303" y="5352916"/>
            <a:ext cx="85723" cy="85723"/>
          </a:xfrm>
          <a:prstGeom prst="rect">
            <a:avLst/>
          </a:prstGeom>
        </p:spPr>
      </p:pic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57749" y="5352916"/>
            <a:ext cx="85723" cy="85723"/>
          </a:xfrm>
          <a:prstGeom prst="rect">
            <a:avLst/>
          </a:prstGeom>
        </p:spPr>
      </p:pic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29194" y="5352916"/>
            <a:ext cx="85723" cy="85723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640" y="5352916"/>
            <a:ext cx="85723" cy="857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990" y="380990"/>
            <a:ext cx="761981" cy="761981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8724" y="380990"/>
            <a:ext cx="761981" cy="76198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990" y="5714857"/>
            <a:ext cx="761981" cy="761981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8724" y="5714857"/>
            <a:ext cx="761981" cy="76198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585" y="533387"/>
            <a:ext cx="457189" cy="9525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1219170" y="457189"/>
            <a:ext cx="1399759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900" dirty="0"/>
          </a:p>
        </p:txBody>
      </p:sp>
      <p:sp>
        <p:nvSpPr>
          <p:cNvPr id="9" name="Text 1"/>
          <p:cNvSpPr/>
          <p:nvPr/>
        </p:nvSpPr>
        <p:spPr>
          <a:xfrm>
            <a:off x="609585" y="685783"/>
            <a:ext cx="10981670" cy="380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项目概述</a:t>
            </a:r>
            <a:endParaRPr lang="en-US" sz="2700" dirty="0"/>
          </a:p>
        </p:txBody>
      </p:sp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585" y="1295368"/>
            <a:ext cx="5333867" cy="2095448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704" y="1581110"/>
            <a:ext cx="200020" cy="171446"/>
          </a:xfrm>
          <a:prstGeom prst="rect">
            <a:avLst/>
          </a:prstGeom>
        </p:spPr>
      </p:pic>
      <p:sp>
        <p:nvSpPr>
          <p:cNvPr id="12" name="Text 2"/>
          <p:cNvSpPr/>
          <p:nvPr/>
        </p:nvSpPr>
        <p:spPr>
          <a:xfrm>
            <a:off x="1162021" y="1533487"/>
            <a:ext cx="685402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项目背景</a:t>
            </a:r>
            <a:endParaRPr lang="en-US" sz="1350" dirty="0"/>
          </a:p>
        </p:txBody>
      </p:sp>
      <p:sp>
        <p:nvSpPr>
          <p:cNvPr id="13" name="Text 3"/>
          <p:cNvSpPr/>
          <p:nvPr/>
        </p:nvSpPr>
        <p:spPr>
          <a:xfrm>
            <a:off x="847704" y="1952576"/>
            <a:ext cx="4866773" cy="438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基于8051单片机开发的第一人称3D迷宫探险游戏，参考经典《德军总部3D》的伪3D渲染技术。</a:t>
            </a:r>
            <a:endParaRPr lang="en-US" sz="1050" dirty="0"/>
          </a:p>
        </p:txBody>
      </p:sp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244" y="1295368"/>
            <a:ext cx="5333867" cy="2095448"/>
          </a:xfrm>
          <a:prstGeom prst="rect">
            <a:avLst/>
          </a:prstGeom>
        </p:spPr>
      </p:pic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86363" y="1581110"/>
            <a:ext cx="171446" cy="171446"/>
          </a:xfrm>
          <a:prstGeom prst="rect">
            <a:avLst/>
          </a:prstGeom>
        </p:spPr>
      </p:pic>
      <p:sp>
        <p:nvSpPr>
          <p:cNvPr id="16" name="Text 4"/>
          <p:cNvSpPr/>
          <p:nvPr/>
        </p:nvSpPr>
        <p:spPr>
          <a:xfrm>
            <a:off x="6772106" y="1533487"/>
            <a:ext cx="685402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核心目标</a:t>
            </a:r>
            <a:endParaRPr lang="en-US" sz="1350" dirty="0"/>
          </a:p>
        </p:txBody>
      </p:sp>
      <p:sp>
        <p:nvSpPr>
          <p:cNvPr id="17" name="Text 5"/>
          <p:cNvSpPr/>
          <p:nvPr/>
        </p:nvSpPr>
        <p:spPr>
          <a:xfrm>
            <a:off x="6486363" y="1990675"/>
            <a:ext cx="56768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050" dirty="0"/>
          </a:p>
        </p:txBody>
      </p:sp>
      <p:sp>
        <p:nvSpPr>
          <p:cNvPr id="18" name="Text 6"/>
          <p:cNvSpPr/>
          <p:nvPr/>
        </p:nvSpPr>
        <p:spPr>
          <a:xfrm>
            <a:off x="6610185" y="1952576"/>
            <a:ext cx="2714176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在资源极其有限的51单片机上实现实时3D渲染</a:t>
            </a:r>
            <a:endParaRPr lang="en-US" sz="1050" dirty="0"/>
          </a:p>
        </p:txBody>
      </p:sp>
      <p:sp>
        <p:nvSpPr>
          <p:cNvPr id="19" name="Text 7"/>
          <p:cNvSpPr/>
          <p:nvPr/>
        </p:nvSpPr>
        <p:spPr>
          <a:xfrm>
            <a:off x="6486363" y="2324042"/>
            <a:ext cx="56768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050" dirty="0"/>
          </a:p>
        </p:txBody>
      </p:sp>
      <p:sp>
        <p:nvSpPr>
          <p:cNvPr id="20" name="Text 8"/>
          <p:cNvSpPr/>
          <p:nvPr/>
        </p:nvSpPr>
        <p:spPr>
          <a:xfrm>
            <a:off x="6610185" y="2285943"/>
            <a:ext cx="3342811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构建完整的游戏系统架构，包含菜单、游戏、音效等模块</a:t>
            </a:r>
            <a:endParaRPr lang="en-US" sz="1050" dirty="0"/>
          </a:p>
        </p:txBody>
      </p:sp>
      <p:sp>
        <p:nvSpPr>
          <p:cNvPr id="21" name="Text 9"/>
          <p:cNvSpPr/>
          <p:nvPr/>
        </p:nvSpPr>
        <p:spPr>
          <a:xfrm>
            <a:off x="6486363" y="2657409"/>
            <a:ext cx="56768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050" dirty="0"/>
          </a:p>
        </p:txBody>
      </p:sp>
      <p:sp>
        <p:nvSpPr>
          <p:cNvPr id="22" name="Text 10"/>
          <p:cNvSpPr/>
          <p:nvPr/>
        </p:nvSpPr>
        <p:spPr>
          <a:xfrm>
            <a:off x="6610185" y="2619310"/>
            <a:ext cx="2009344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提供流畅的第一人称视角探索体验</a:t>
            </a:r>
            <a:endParaRPr lang="en-US" sz="1050" dirty="0"/>
          </a:p>
        </p:txBody>
      </p:sp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585" y="3695608"/>
            <a:ext cx="5333867" cy="2714557"/>
          </a:xfrm>
          <a:prstGeom prst="rect">
            <a:avLst/>
          </a:prstGeom>
        </p:spPr>
      </p:pic>
      <p:pic>
        <p:nvPicPr>
          <p:cNvPr id="24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7704" y="3981350"/>
            <a:ext cx="171446" cy="171446"/>
          </a:xfrm>
          <a:prstGeom prst="rect">
            <a:avLst/>
          </a:prstGeom>
        </p:spPr>
      </p:pic>
      <p:sp>
        <p:nvSpPr>
          <p:cNvPr id="25" name="Text 11"/>
          <p:cNvSpPr/>
          <p:nvPr/>
        </p:nvSpPr>
        <p:spPr>
          <a:xfrm>
            <a:off x="1133447" y="3933727"/>
            <a:ext cx="685402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技术挑战</a:t>
            </a:r>
            <a:endParaRPr lang="en-US" sz="1350" dirty="0"/>
          </a:p>
        </p:txBody>
      </p:sp>
      <p:pic>
        <p:nvPicPr>
          <p:cNvPr id="26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8179" y="4409965"/>
            <a:ext cx="85723" cy="85723"/>
          </a:xfrm>
          <a:prstGeom prst="rect">
            <a:avLst/>
          </a:prstGeom>
        </p:spPr>
      </p:pic>
      <p:sp>
        <p:nvSpPr>
          <p:cNvPr id="27" name="Text 12"/>
          <p:cNvSpPr/>
          <p:nvPr/>
        </p:nvSpPr>
        <p:spPr>
          <a:xfrm>
            <a:off x="1019150" y="4352816"/>
            <a:ext cx="3123741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算力限制：</a:t>
            </a: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51单片机无硬件乘除法器和浮点运算单元</a:t>
            </a:r>
            <a:endParaRPr lang="en-US" sz="1200" dirty="0"/>
          </a:p>
        </p:txBody>
      </p:sp>
      <p:pic>
        <p:nvPicPr>
          <p:cNvPr id="28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8179" y="4752856"/>
            <a:ext cx="85723" cy="85723"/>
          </a:xfrm>
          <a:prstGeom prst="rect">
            <a:avLst/>
          </a:prstGeom>
        </p:spPr>
      </p:pic>
      <p:sp>
        <p:nvSpPr>
          <p:cNvPr id="29" name="Text 13"/>
          <p:cNvSpPr/>
          <p:nvPr/>
        </p:nvSpPr>
        <p:spPr>
          <a:xfrm>
            <a:off x="1019150" y="4695708"/>
            <a:ext cx="3028494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内存限制：</a:t>
            </a: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RAM极其有限，无法存储大量图形数据</a:t>
            </a:r>
            <a:endParaRPr lang="en-US" sz="1200" dirty="0"/>
          </a:p>
        </p:txBody>
      </p:sp>
      <p:pic>
        <p:nvPicPr>
          <p:cNvPr id="30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8179" y="5095748"/>
            <a:ext cx="85723" cy="85723"/>
          </a:xfrm>
          <a:prstGeom prst="rect">
            <a:avLst/>
          </a:prstGeom>
        </p:spPr>
      </p:pic>
      <p:sp>
        <p:nvSpPr>
          <p:cNvPr id="31" name="Text 14"/>
          <p:cNvSpPr/>
          <p:nvPr/>
        </p:nvSpPr>
        <p:spPr>
          <a:xfrm>
            <a:off x="1019150" y="5038599"/>
            <a:ext cx="3266613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显示限制：</a:t>
            </a: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128×64像素低分辨率LCD，需优化渲染算法</a:t>
            </a:r>
            <a:endParaRPr lang="en-US" sz="1200" dirty="0"/>
          </a:p>
        </p:txBody>
      </p:sp>
      <p:pic>
        <p:nvPicPr>
          <p:cNvPr id="32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8244" y="3695608"/>
            <a:ext cx="5333867" cy="2714557"/>
          </a:xfrm>
          <a:prstGeom prst="rect">
            <a:avLst/>
          </a:prstGeom>
        </p:spPr>
      </p:pic>
      <p:pic>
        <p:nvPicPr>
          <p:cNvPr id="33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86363" y="3981350"/>
            <a:ext cx="133347" cy="171446"/>
          </a:xfrm>
          <a:prstGeom prst="rect">
            <a:avLst/>
          </a:prstGeom>
        </p:spPr>
      </p:pic>
      <p:sp>
        <p:nvSpPr>
          <p:cNvPr id="34" name="Text 15"/>
          <p:cNvSpPr/>
          <p:nvPr/>
        </p:nvSpPr>
        <p:spPr>
          <a:xfrm>
            <a:off x="6734007" y="3933727"/>
            <a:ext cx="685402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创新亮点</a:t>
            </a:r>
            <a:endParaRPr lang="en-US" sz="1350" dirty="0"/>
          </a:p>
        </p:txBody>
      </p:sp>
      <p:pic>
        <p:nvPicPr>
          <p:cNvPr id="35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86363" y="4352816"/>
            <a:ext cx="4857629" cy="438139"/>
          </a:xfrm>
          <a:prstGeom prst="rect">
            <a:avLst/>
          </a:prstGeom>
        </p:spPr>
      </p:pic>
      <p:pic>
        <p:nvPicPr>
          <p:cNvPr id="36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10185" y="4505212"/>
            <a:ext cx="152396" cy="133347"/>
          </a:xfrm>
          <a:prstGeom prst="rect">
            <a:avLst/>
          </a:prstGeom>
        </p:spPr>
      </p:pic>
      <p:sp>
        <p:nvSpPr>
          <p:cNvPr id="37" name="Text 16"/>
          <p:cNvSpPr/>
          <p:nvPr/>
        </p:nvSpPr>
        <p:spPr>
          <a:xfrm>
            <a:off x="6876878" y="4476638"/>
            <a:ext cx="1914096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采用光线投射算法实现伪3D效果</a:t>
            </a:r>
            <a:endParaRPr lang="en-US" sz="1050" dirty="0"/>
          </a:p>
        </p:txBody>
      </p:sp>
      <p:pic>
        <p:nvPicPr>
          <p:cNvPr id="38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86363" y="4905252"/>
            <a:ext cx="4857629" cy="438139"/>
          </a:xfrm>
          <a:prstGeom prst="rect">
            <a:avLst/>
          </a:prstGeom>
        </p:spPr>
      </p:pic>
      <p:pic>
        <p:nvPicPr>
          <p:cNvPr id="39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10185" y="5057649"/>
            <a:ext cx="104772" cy="133347"/>
          </a:xfrm>
          <a:prstGeom prst="rect">
            <a:avLst/>
          </a:prstGeom>
        </p:spPr>
      </p:pic>
      <p:sp>
        <p:nvSpPr>
          <p:cNvPr id="40" name="Text 17"/>
          <p:cNvSpPr/>
          <p:nvPr/>
        </p:nvSpPr>
        <p:spPr>
          <a:xfrm>
            <a:off x="6829254" y="5029074"/>
            <a:ext cx="1742651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使用定点数运算替代浮点计算</a:t>
            </a:r>
            <a:endParaRPr lang="en-US" sz="1050" dirty="0"/>
          </a:p>
        </p:txBody>
      </p:sp>
      <p:pic>
        <p:nvPicPr>
          <p:cNvPr id="41" name="Image 2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86363" y="5457689"/>
            <a:ext cx="4857629" cy="438139"/>
          </a:xfrm>
          <a:prstGeom prst="rect">
            <a:avLst/>
          </a:prstGeom>
        </p:spPr>
      </p:pic>
      <p:pic>
        <p:nvPicPr>
          <p:cNvPr id="42" name="Image 2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10185" y="5610085"/>
            <a:ext cx="152396" cy="133347"/>
          </a:xfrm>
          <a:prstGeom prst="rect">
            <a:avLst/>
          </a:prstGeom>
        </p:spPr>
      </p:pic>
      <p:sp>
        <p:nvSpPr>
          <p:cNvPr id="43" name="Text 18"/>
          <p:cNvSpPr/>
          <p:nvPr/>
        </p:nvSpPr>
        <p:spPr>
          <a:xfrm>
            <a:off x="6876878" y="5581510"/>
            <a:ext cx="1742651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模块化设计确保系统可扩展性</a:t>
            </a:r>
            <a:endParaRPr lang="en-US" sz="1050" dirty="0"/>
          </a:p>
        </p:txBody>
      </p:sp>
      <p:sp>
        <p:nvSpPr>
          <p:cNvPr id="44" name="Text 19"/>
          <p:cNvSpPr/>
          <p:nvPr/>
        </p:nvSpPr>
        <p:spPr>
          <a:xfrm>
            <a:off x="380990" y="6476838"/>
            <a:ext cx="1571205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SYS.VER.1.0 // 2026.04.18</a:t>
            </a:r>
            <a:endParaRPr lang="en-US" sz="900" dirty="0"/>
          </a:p>
        </p:txBody>
      </p:sp>
      <p:sp>
        <p:nvSpPr>
          <p:cNvPr id="45" name="Text 20"/>
          <p:cNvSpPr/>
          <p:nvPr/>
        </p:nvSpPr>
        <p:spPr>
          <a:xfrm>
            <a:off x="10782030" y="6476838"/>
            <a:ext cx="1047343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1280×720 // 60Hz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990" y="380990"/>
            <a:ext cx="761981" cy="761981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8724" y="380990"/>
            <a:ext cx="761981" cy="76198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990" y="5714857"/>
            <a:ext cx="761981" cy="761981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8724" y="5714857"/>
            <a:ext cx="761981" cy="76198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585" y="533387"/>
            <a:ext cx="457189" cy="9525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1219170" y="457189"/>
            <a:ext cx="1885522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Architecture</a:t>
            </a:r>
            <a:endParaRPr lang="en-US" sz="900" dirty="0"/>
          </a:p>
        </p:txBody>
      </p:sp>
      <p:sp>
        <p:nvSpPr>
          <p:cNvPr id="9" name="Text 1"/>
          <p:cNvSpPr/>
          <p:nvPr/>
        </p:nvSpPr>
        <p:spPr>
          <a:xfrm>
            <a:off x="609585" y="685783"/>
            <a:ext cx="10981670" cy="380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硬件系统架构</a:t>
            </a:r>
            <a:endParaRPr lang="en-US" sz="2700" dirty="0"/>
          </a:p>
        </p:txBody>
      </p:sp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585" y="1295368"/>
            <a:ext cx="5333867" cy="2438339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704" y="1581110"/>
            <a:ext cx="171446" cy="171446"/>
          </a:xfrm>
          <a:prstGeom prst="rect">
            <a:avLst/>
          </a:prstGeom>
        </p:spPr>
      </p:pic>
      <p:sp>
        <p:nvSpPr>
          <p:cNvPr id="12" name="Text 2"/>
          <p:cNvSpPr/>
          <p:nvPr/>
        </p:nvSpPr>
        <p:spPr>
          <a:xfrm>
            <a:off x="1133447" y="1533487"/>
            <a:ext cx="1018769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核心处理单元</a:t>
            </a:r>
            <a:endParaRPr lang="en-US" sz="1350" dirty="0"/>
          </a:p>
        </p:txBody>
      </p:sp>
      <p:sp>
        <p:nvSpPr>
          <p:cNvPr id="13" name="Text 3"/>
          <p:cNvSpPr/>
          <p:nvPr/>
        </p:nvSpPr>
        <p:spPr>
          <a:xfrm>
            <a:off x="847704" y="1952576"/>
            <a:ext cx="466333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主控</a:t>
            </a:r>
            <a:endParaRPr lang="en-US" sz="1050" dirty="0"/>
          </a:p>
        </p:txBody>
      </p:sp>
      <p:sp>
        <p:nvSpPr>
          <p:cNvPr id="14" name="Text 4"/>
          <p:cNvSpPr/>
          <p:nvPr/>
        </p:nvSpPr>
        <p:spPr>
          <a:xfrm>
            <a:off x="1419190" y="1952576"/>
            <a:ext cx="1571205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8051单片机（REGX52.H）</a:t>
            </a:r>
            <a:endParaRPr lang="en-US" sz="1050" dirty="0"/>
          </a:p>
        </p:txBody>
      </p:sp>
      <p:sp>
        <p:nvSpPr>
          <p:cNvPr id="15" name="Text 5"/>
          <p:cNvSpPr/>
          <p:nvPr/>
        </p:nvSpPr>
        <p:spPr>
          <a:xfrm>
            <a:off x="847704" y="2257369"/>
            <a:ext cx="466333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时钟</a:t>
            </a:r>
            <a:endParaRPr lang="en-US" sz="1050" dirty="0"/>
          </a:p>
        </p:txBody>
      </p:sp>
      <p:sp>
        <p:nvSpPr>
          <p:cNvPr id="16" name="Text 6"/>
          <p:cNvSpPr/>
          <p:nvPr/>
        </p:nvSpPr>
        <p:spPr>
          <a:xfrm>
            <a:off x="1419190" y="2257369"/>
            <a:ext cx="418709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12MHz</a:t>
            </a:r>
            <a:endParaRPr lang="en-US" sz="1050" dirty="0"/>
          </a:p>
        </p:txBody>
      </p:sp>
      <p:sp>
        <p:nvSpPr>
          <p:cNvPr id="17" name="Text 7"/>
          <p:cNvSpPr/>
          <p:nvPr/>
        </p:nvSpPr>
        <p:spPr>
          <a:xfrm>
            <a:off x="847704" y="2562161"/>
            <a:ext cx="466333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存储</a:t>
            </a:r>
            <a:endParaRPr lang="en-US" sz="1050" dirty="0"/>
          </a:p>
        </p:txBody>
      </p:sp>
      <p:sp>
        <p:nvSpPr>
          <p:cNvPr id="18" name="Text 8"/>
          <p:cNvSpPr/>
          <p:nvPr/>
        </p:nvSpPr>
        <p:spPr>
          <a:xfrm>
            <a:off x="1419190" y="2562161"/>
            <a:ext cx="2599879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内部ROM + 外扩EEPROM（用于游戏存档）</a:t>
            </a:r>
            <a:endParaRPr lang="en-US" sz="105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585" y="3962301"/>
            <a:ext cx="5333867" cy="2438339"/>
          </a:xfrm>
          <a:prstGeom prst="rect">
            <a:avLst/>
          </a:prstGeom>
        </p:spPr>
      </p:pic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704" y="4248044"/>
            <a:ext cx="171446" cy="171446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1133447" y="4200420"/>
            <a:ext cx="685402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显示模块</a:t>
            </a:r>
            <a:endParaRPr lang="en-US" sz="1350" dirty="0"/>
          </a:p>
        </p:txBody>
      </p:sp>
      <p:pic>
        <p:nvPicPr>
          <p:cNvPr id="2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7704" y="4619510"/>
            <a:ext cx="4857629" cy="276218"/>
          </a:xfrm>
          <a:prstGeom prst="rect">
            <a:avLst/>
          </a:prstGeom>
        </p:spPr>
      </p:pic>
      <p:sp>
        <p:nvSpPr>
          <p:cNvPr id="23" name="Text 10"/>
          <p:cNvSpPr/>
          <p:nvPr/>
        </p:nvSpPr>
        <p:spPr>
          <a:xfrm>
            <a:off x="847704" y="4619510"/>
            <a:ext cx="542531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屏幕类型</a:t>
            </a:r>
            <a:endParaRPr lang="en-US" sz="1050" dirty="0"/>
          </a:p>
        </p:txBody>
      </p:sp>
      <p:sp>
        <p:nvSpPr>
          <p:cNvPr id="24" name="Text 11"/>
          <p:cNvSpPr/>
          <p:nvPr/>
        </p:nvSpPr>
        <p:spPr>
          <a:xfrm>
            <a:off x="4705232" y="4619510"/>
            <a:ext cx="1009244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12864液晶显示屏</a:t>
            </a:r>
            <a:endParaRPr lang="en-US" sz="1050" dirty="0"/>
          </a:p>
        </p:txBody>
      </p:sp>
      <p:pic>
        <p:nvPicPr>
          <p:cNvPr id="25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7704" y="4971926"/>
            <a:ext cx="4857629" cy="276218"/>
          </a:xfrm>
          <a:prstGeom prst="rect">
            <a:avLst/>
          </a:prstGeom>
        </p:spPr>
      </p:pic>
      <p:sp>
        <p:nvSpPr>
          <p:cNvPr id="26" name="Text 12"/>
          <p:cNvSpPr/>
          <p:nvPr/>
        </p:nvSpPr>
        <p:spPr>
          <a:xfrm>
            <a:off x="847704" y="4971926"/>
            <a:ext cx="409184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分辨率</a:t>
            </a:r>
            <a:endParaRPr lang="en-US" sz="1050" dirty="0"/>
          </a:p>
        </p:txBody>
      </p:sp>
      <p:sp>
        <p:nvSpPr>
          <p:cNvPr id="27" name="Text 13"/>
          <p:cNvSpPr/>
          <p:nvPr/>
        </p:nvSpPr>
        <p:spPr>
          <a:xfrm>
            <a:off x="5038599" y="4971926"/>
            <a:ext cx="685402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128×64像素</a:t>
            </a:r>
            <a:endParaRPr lang="en-US" sz="1050" dirty="0"/>
          </a:p>
        </p:txBody>
      </p:sp>
      <p:pic>
        <p:nvPicPr>
          <p:cNvPr id="28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7704" y="5324342"/>
            <a:ext cx="4857629" cy="276218"/>
          </a:xfrm>
          <a:prstGeom prst="rect">
            <a:avLst/>
          </a:prstGeom>
        </p:spPr>
      </p:pic>
      <p:sp>
        <p:nvSpPr>
          <p:cNvPr id="29" name="Text 14"/>
          <p:cNvSpPr/>
          <p:nvPr/>
        </p:nvSpPr>
        <p:spPr>
          <a:xfrm>
            <a:off x="847704" y="5324342"/>
            <a:ext cx="542531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控制方式</a:t>
            </a:r>
            <a:endParaRPr lang="en-US" sz="1050" dirty="0"/>
          </a:p>
        </p:txBody>
      </p:sp>
      <p:sp>
        <p:nvSpPr>
          <p:cNvPr id="30" name="Text 15"/>
          <p:cNvSpPr/>
          <p:nvPr/>
        </p:nvSpPr>
        <p:spPr>
          <a:xfrm>
            <a:off x="4276618" y="5324342"/>
            <a:ext cx="1447383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左右双片选（CS1/CS2）</a:t>
            </a:r>
            <a:endParaRPr lang="en-US" sz="1050" dirty="0"/>
          </a:p>
        </p:txBody>
      </p:sp>
      <p:sp>
        <p:nvSpPr>
          <p:cNvPr id="31" name="Text 16"/>
          <p:cNvSpPr/>
          <p:nvPr/>
        </p:nvSpPr>
        <p:spPr>
          <a:xfrm>
            <a:off x="847704" y="5714857"/>
            <a:ext cx="542531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显示内容</a:t>
            </a:r>
            <a:endParaRPr lang="en-US" sz="1050" dirty="0"/>
          </a:p>
        </p:txBody>
      </p:sp>
      <p:sp>
        <p:nvSpPr>
          <p:cNvPr id="32" name="Text 17"/>
          <p:cNvSpPr/>
          <p:nvPr/>
        </p:nvSpPr>
        <p:spPr>
          <a:xfrm>
            <a:off x="4476638" y="5714857"/>
            <a:ext cx="1247363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3D画面、菜单、文字</a:t>
            </a:r>
            <a:endParaRPr lang="en-US" sz="1050" dirty="0"/>
          </a:p>
        </p:txBody>
      </p:sp>
      <p:pic>
        <p:nvPicPr>
          <p:cNvPr id="33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8244" y="1295368"/>
            <a:ext cx="5333867" cy="2628834"/>
          </a:xfrm>
          <a:prstGeom prst="rect">
            <a:avLst/>
          </a:prstGeom>
        </p:spPr>
      </p:pic>
      <p:pic>
        <p:nvPicPr>
          <p:cNvPr id="34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86363" y="1581110"/>
            <a:ext cx="219070" cy="171446"/>
          </a:xfrm>
          <a:prstGeom prst="rect">
            <a:avLst/>
          </a:prstGeom>
        </p:spPr>
      </p:pic>
      <p:sp>
        <p:nvSpPr>
          <p:cNvPr id="35" name="Text 18"/>
          <p:cNvSpPr/>
          <p:nvPr/>
        </p:nvSpPr>
        <p:spPr>
          <a:xfrm>
            <a:off x="6819730" y="1533487"/>
            <a:ext cx="685402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输入模块</a:t>
            </a:r>
            <a:endParaRPr lang="en-US" sz="1350" dirty="0"/>
          </a:p>
        </p:txBody>
      </p:sp>
      <p:sp>
        <p:nvSpPr>
          <p:cNvPr id="36" name="Text 19"/>
          <p:cNvSpPr/>
          <p:nvPr/>
        </p:nvSpPr>
        <p:spPr>
          <a:xfrm>
            <a:off x="6486363" y="1952576"/>
            <a:ext cx="4866773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5个独立按键，功能分配如下：</a:t>
            </a:r>
            <a:endParaRPr lang="en-US" sz="1050" dirty="0"/>
          </a:p>
        </p:txBody>
      </p:sp>
      <p:pic>
        <p:nvPicPr>
          <p:cNvPr id="3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86363" y="2257369"/>
            <a:ext cx="2371666" cy="400040"/>
          </a:xfrm>
          <a:prstGeom prst="rect">
            <a:avLst/>
          </a:prstGeom>
        </p:spPr>
      </p:pic>
      <p:pic>
        <p:nvPicPr>
          <p:cNvPr id="3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72086" y="2343091"/>
            <a:ext cx="228594" cy="228594"/>
          </a:xfrm>
          <a:prstGeom prst="rect">
            <a:avLst/>
          </a:prstGeom>
        </p:spPr>
      </p:pic>
      <p:sp>
        <p:nvSpPr>
          <p:cNvPr id="39" name="Text 20"/>
          <p:cNvSpPr/>
          <p:nvPr/>
        </p:nvSpPr>
        <p:spPr>
          <a:xfrm>
            <a:off x="6572086" y="2343091"/>
            <a:ext cx="237738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↑</a:t>
            </a:r>
            <a:endParaRPr lang="en-US" sz="900" dirty="0"/>
          </a:p>
        </p:txBody>
      </p:sp>
      <p:sp>
        <p:nvSpPr>
          <p:cNvPr id="40" name="Text 21"/>
          <p:cNvSpPr/>
          <p:nvPr/>
        </p:nvSpPr>
        <p:spPr>
          <a:xfrm>
            <a:off x="6876878" y="2362141"/>
            <a:ext cx="275837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前进</a:t>
            </a:r>
            <a:endParaRPr lang="en-US" sz="1050" dirty="0"/>
          </a:p>
        </p:txBody>
      </p:sp>
      <p:pic>
        <p:nvPicPr>
          <p:cNvPr id="41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72326" y="2257369"/>
            <a:ext cx="2371666" cy="400040"/>
          </a:xfrm>
          <a:prstGeom prst="rect">
            <a:avLst/>
          </a:prstGeom>
        </p:spPr>
      </p:pic>
      <p:pic>
        <p:nvPicPr>
          <p:cNvPr id="42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58049" y="2343091"/>
            <a:ext cx="228594" cy="228594"/>
          </a:xfrm>
          <a:prstGeom prst="rect">
            <a:avLst/>
          </a:prstGeom>
        </p:spPr>
      </p:pic>
      <p:sp>
        <p:nvSpPr>
          <p:cNvPr id="43" name="Text 22"/>
          <p:cNvSpPr/>
          <p:nvPr/>
        </p:nvSpPr>
        <p:spPr>
          <a:xfrm>
            <a:off x="9058049" y="2343091"/>
            <a:ext cx="237738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↓</a:t>
            </a:r>
            <a:endParaRPr lang="en-US" sz="900" dirty="0"/>
          </a:p>
        </p:txBody>
      </p:sp>
      <p:sp>
        <p:nvSpPr>
          <p:cNvPr id="44" name="Text 23"/>
          <p:cNvSpPr/>
          <p:nvPr/>
        </p:nvSpPr>
        <p:spPr>
          <a:xfrm>
            <a:off x="9362841" y="2362141"/>
            <a:ext cx="275837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后退</a:t>
            </a:r>
            <a:endParaRPr lang="en-US" sz="1050" dirty="0"/>
          </a:p>
        </p:txBody>
      </p:sp>
      <p:pic>
        <p:nvPicPr>
          <p:cNvPr id="45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86363" y="2771706"/>
            <a:ext cx="2371666" cy="400040"/>
          </a:xfrm>
          <a:prstGeom prst="rect">
            <a:avLst/>
          </a:prstGeom>
        </p:spPr>
      </p:pic>
      <p:pic>
        <p:nvPicPr>
          <p:cNvPr id="46" name="Image 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72086" y="2857429"/>
            <a:ext cx="228594" cy="228594"/>
          </a:xfrm>
          <a:prstGeom prst="rect">
            <a:avLst/>
          </a:prstGeom>
        </p:spPr>
      </p:pic>
      <p:sp>
        <p:nvSpPr>
          <p:cNvPr id="47" name="Text 24"/>
          <p:cNvSpPr/>
          <p:nvPr/>
        </p:nvSpPr>
        <p:spPr>
          <a:xfrm>
            <a:off x="6572086" y="2857429"/>
            <a:ext cx="237738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←</a:t>
            </a:r>
            <a:endParaRPr lang="en-US" sz="900" dirty="0"/>
          </a:p>
        </p:txBody>
      </p:sp>
      <p:sp>
        <p:nvSpPr>
          <p:cNvPr id="48" name="Text 25"/>
          <p:cNvSpPr/>
          <p:nvPr/>
        </p:nvSpPr>
        <p:spPr>
          <a:xfrm>
            <a:off x="6876878" y="2876478"/>
            <a:ext cx="275837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左转</a:t>
            </a:r>
            <a:endParaRPr lang="en-US" sz="1050" dirty="0"/>
          </a:p>
        </p:txBody>
      </p:sp>
      <p:pic>
        <p:nvPicPr>
          <p:cNvPr id="49" name="Image 2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72326" y="2771706"/>
            <a:ext cx="2371666" cy="400040"/>
          </a:xfrm>
          <a:prstGeom prst="rect">
            <a:avLst/>
          </a:prstGeom>
        </p:spPr>
      </p:pic>
      <p:pic>
        <p:nvPicPr>
          <p:cNvPr id="50" name="Image 22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58049" y="2857429"/>
            <a:ext cx="228594" cy="228594"/>
          </a:xfrm>
          <a:prstGeom prst="rect">
            <a:avLst/>
          </a:prstGeom>
        </p:spPr>
      </p:pic>
      <p:sp>
        <p:nvSpPr>
          <p:cNvPr id="51" name="Text 26"/>
          <p:cNvSpPr/>
          <p:nvPr/>
        </p:nvSpPr>
        <p:spPr>
          <a:xfrm>
            <a:off x="9058049" y="2857429"/>
            <a:ext cx="237738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→</a:t>
            </a:r>
            <a:endParaRPr lang="en-US" sz="900" dirty="0"/>
          </a:p>
        </p:txBody>
      </p:sp>
      <p:sp>
        <p:nvSpPr>
          <p:cNvPr id="52" name="Text 27"/>
          <p:cNvSpPr/>
          <p:nvPr/>
        </p:nvSpPr>
        <p:spPr>
          <a:xfrm>
            <a:off x="9362841" y="2876478"/>
            <a:ext cx="275837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右转</a:t>
            </a:r>
            <a:endParaRPr lang="en-US" sz="1050" dirty="0"/>
          </a:p>
        </p:txBody>
      </p:sp>
      <p:pic>
        <p:nvPicPr>
          <p:cNvPr id="53" name="Image 2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86363" y="3286043"/>
            <a:ext cx="4857629" cy="400040"/>
          </a:xfrm>
          <a:prstGeom prst="rect">
            <a:avLst/>
          </a:prstGeom>
        </p:spPr>
      </p:pic>
      <p:pic>
        <p:nvPicPr>
          <p:cNvPr id="54" name="Image 2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72086" y="3371766"/>
            <a:ext cx="228594" cy="228594"/>
          </a:xfrm>
          <a:prstGeom prst="rect">
            <a:avLst/>
          </a:prstGeom>
        </p:spPr>
      </p:pic>
      <p:sp>
        <p:nvSpPr>
          <p:cNvPr id="55" name="Text 28"/>
          <p:cNvSpPr/>
          <p:nvPr/>
        </p:nvSpPr>
        <p:spPr>
          <a:xfrm>
            <a:off x="6572086" y="3371766"/>
            <a:ext cx="237738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●</a:t>
            </a:r>
            <a:endParaRPr lang="en-US" sz="900" dirty="0"/>
          </a:p>
        </p:txBody>
      </p:sp>
      <p:sp>
        <p:nvSpPr>
          <p:cNvPr id="56" name="Text 29"/>
          <p:cNvSpPr/>
          <p:nvPr/>
        </p:nvSpPr>
        <p:spPr>
          <a:xfrm>
            <a:off x="6876878" y="3390815"/>
            <a:ext cx="913996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菜单确认 / 暂停</a:t>
            </a:r>
            <a:endParaRPr lang="en-US" sz="1050" dirty="0"/>
          </a:p>
        </p:txBody>
      </p:sp>
      <p:pic>
        <p:nvPicPr>
          <p:cNvPr id="57" name="Image 2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48244" y="4152796"/>
            <a:ext cx="5333867" cy="2247844"/>
          </a:xfrm>
          <a:prstGeom prst="rect">
            <a:avLst/>
          </a:prstGeom>
        </p:spPr>
      </p:pic>
      <p:pic>
        <p:nvPicPr>
          <p:cNvPr id="58" name="Image 2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86363" y="4438539"/>
            <a:ext cx="219070" cy="171446"/>
          </a:xfrm>
          <a:prstGeom prst="rect">
            <a:avLst/>
          </a:prstGeom>
        </p:spPr>
      </p:pic>
      <p:sp>
        <p:nvSpPr>
          <p:cNvPr id="59" name="Text 30"/>
          <p:cNvSpPr/>
          <p:nvPr/>
        </p:nvSpPr>
        <p:spPr>
          <a:xfrm>
            <a:off x="6819730" y="4390915"/>
            <a:ext cx="685402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音效模块</a:t>
            </a:r>
            <a:endParaRPr lang="en-US" sz="1350" dirty="0"/>
          </a:p>
        </p:txBody>
      </p:sp>
      <p:pic>
        <p:nvPicPr>
          <p:cNvPr id="60" name="Image 2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76838" y="4876678"/>
            <a:ext cx="85723" cy="85723"/>
          </a:xfrm>
          <a:prstGeom prst="rect">
            <a:avLst/>
          </a:prstGeom>
        </p:spPr>
      </p:pic>
      <p:sp>
        <p:nvSpPr>
          <p:cNvPr id="61" name="Text 31"/>
          <p:cNvSpPr/>
          <p:nvPr/>
        </p:nvSpPr>
        <p:spPr>
          <a:xfrm>
            <a:off x="6657809" y="4810005"/>
            <a:ext cx="1390234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发声元件：</a:t>
            </a: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无源蜂鸣器</a:t>
            </a:r>
            <a:endParaRPr lang="en-US" sz="1200" dirty="0"/>
          </a:p>
        </p:txBody>
      </p:sp>
      <p:pic>
        <p:nvPicPr>
          <p:cNvPr id="62" name="Image 2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76838" y="5219570"/>
            <a:ext cx="85723" cy="85723"/>
          </a:xfrm>
          <a:prstGeom prst="rect">
            <a:avLst/>
          </a:prstGeom>
        </p:spPr>
      </p:pic>
      <p:sp>
        <p:nvSpPr>
          <p:cNvPr id="63" name="Text 32"/>
          <p:cNvSpPr/>
          <p:nvPr/>
        </p:nvSpPr>
        <p:spPr>
          <a:xfrm>
            <a:off x="6657809" y="5152896"/>
            <a:ext cx="2304612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控制方式：</a:t>
            </a: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定时器0中断产生PWM波形</a:t>
            </a:r>
            <a:endParaRPr lang="en-US" sz="1200" dirty="0"/>
          </a:p>
        </p:txBody>
      </p:sp>
      <p:pic>
        <p:nvPicPr>
          <p:cNvPr id="64" name="Image 2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76838" y="5562461"/>
            <a:ext cx="85723" cy="85723"/>
          </a:xfrm>
          <a:prstGeom prst="rect">
            <a:avLst/>
          </a:prstGeom>
        </p:spPr>
      </p:pic>
      <p:sp>
        <p:nvSpPr>
          <p:cNvPr id="65" name="Text 33"/>
          <p:cNvSpPr/>
          <p:nvPr/>
        </p:nvSpPr>
        <p:spPr>
          <a:xfrm>
            <a:off x="6657809" y="5495788"/>
            <a:ext cx="2590354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音效类型：</a:t>
            </a: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背景音乐、脚步声、碰撞提示音</a:t>
            </a:r>
            <a:endParaRPr lang="en-US" sz="1200" dirty="0"/>
          </a:p>
        </p:txBody>
      </p:sp>
      <p:sp>
        <p:nvSpPr>
          <p:cNvPr id="66" name="Text 34"/>
          <p:cNvSpPr/>
          <p:nvPr/>
        </p:nvSpPr>
        <p:spPr>
          <a:xfrm>
            <a:off x="380990" y="6476838"/>
            <a:ext cx="1571205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SYS.VER.1.0 // 2026.04.18</a:t>
            </a:r>
            <a:endParaRPr lang="en-US" sz="900" dirty="0"/>
          </a:p>
        </p:txBody>
      </p:sp>
      <p:sp>
        <p:nvSpPr>
          <p:cNvPr id="67" name="Text 35"/>
          <p:cNvSpPr/>
          <p:nvPr/>
        </p:nvSpPr>
        <p:spPr>
          <a:xfrm>
            <a:off x="10782030" y="6476838"/>
            <a:ext cx="1047343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1280×720 // 60Hz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990" y="380990"/>
            <a:ext cx="761981" cy="761981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8724" y="380990"/>
            <a:ext cx="761981" cy="76198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990" y="5714857"/>
            <a:ext cx="761981" cy="761981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8724" y="5714857"/>
            <a:ext cx="761981" cy="76198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585" y="457189"/>
            <a:ext cx="457189" cy="9525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1219170" y="380990"/>
            <a:ext cx="1656928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9" name="Text 1"/>
          <p:cNvSpPr/>
          <p:nvPr/>
        </p:nvSpPr>
        <p:spPr>
          <a:xfrm>
            <a:off x="609585" y="609585"/>
            <a:ext cx="10981670" cy="5429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软件系统架构</a:t>
            </a:r>
            <a:endParaRPr lang="en-US" sz="2850" dirty="0"/>
          </a:p>
        </p:txBody>
      </p:sp>
      <p:sp>
        <p:nvSpPr>
          <p:cNvPr id="10" name="Text 2"/>
          <p:cNvSpPr/>
          <p:nvPr/>
        </p:nvSpPr>
        <p:spPr>
          <a:xfrm>
            <a:off x="609585" y="1228694"/>
            <a:ext cx="7324161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为应对51单片机有限的资源，采用高度模块化的软件设计，将系统划分为四大核心模块，各司其职，协同工作。</a:t>
            </a:r>
            <a:endParaRPr lang="en-US" sz="1050" dirty="0"/>
          </a:p>
        </p:txBody>
      </p:sp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585" y="1600160"/>
            <a:ext cx="5391015" cy="2352616"/>
          </a:xfrm>
          <a:prstGeom prst="rect">
            <a:avLst/>
          </a:prstGeom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605" y="1800180"/>
            <a:ext cx="4990975" cy="352416"/>
          </a:xfrm>
          <a:prstGeom prst="rect">
            <a:avLst/>
          </a:prstGeom>
        </p:spPr>
      </p:pic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9605" y="1828754"/>
            <a:ext cx="171446" cy="171446"/>
          </a:xfrm>
          <a:prstGeom prst="rect">
            <a:avLst/>
          </a:prstGeom>
        </p:spPr>
      </p:pic>
      <p:sp>
        <p:nvSpPr>
          <p:cNvPr id="14" name="Text 3"/>
          <p:cNvSpPr/>
          <p:nvPr/>
        </p:nvSpPr>
        <p:spPr>
          <a:xfrm>
            <a:off x="1095348" y="1800180"/>
            <a:ext cx="609204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显示模块</a:t>
            </a:r>
            <a:endParaRPr lang="en-US" sz="1200" dirty="0"/>
          </a:p>
        </p:txBody>
      </p:sp>
      <p:sp>
        <p:nvSpPr>
          <p:cNvPr id="15" name="Text 4"/>
          <p:cNvSpPr/>
          <p:nvPr/>
        </p:nvSpPr>
        <p:spPr>
          <a:xfrm>
            <a:off x="809605" y="2285943"/>
            <a:ext cx="123441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6" name="Text 5"/>
          <p:cNvSpPr/>
          <p:nvPr/>
        </p:nvSpPr>
        <p:spPr>
          <a:xfrm>
            <a:off x="1000100" y="2266893"/>
            <a:ext cx="3876197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驱动层：</a:t>
            </a: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12864 LCD驱动，支持双片选（cs1/cs2）与像素级绘制。</a:t>
            </a:r>
            <a:endParaRPr lang="en-US" sz="1050" dirty="0"/>
          </a:p>
        </p:txBody>
      </p:sp>
      <p:sp>
        <p:nvSpPr>
          <p:cNvPr id="17" name="Text 6"/>
          <p:cNvSpPr/>
          <p:nvPr/>
        </p:nvSpPr>
        <p:spPr>
          <a:xfrm>
            <a:off x="809605" y="2552636"/>
            <a:ext cx="123441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7"/>
          <p:cNvSpPr/>
          <p:nvPr/>
        </p:nvSpPr>
        <p:spPr>
          <a:xfrm>
            <a:off x="1000100" y="2552636"/>
            <a:ext cx="542531" cy="1428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渲染层：</a:t>
            </a:r>
            <a:endParaRPr lang="en-US" sz="1050" dirty="0"/>
          </a:p>
        </p:txBody>
      </p:sp>
      <p:sp>
        <p:nvSpPr>
          <p:cNvPr id="19" name="Text 8"/>
          <p:cNvSpPr/>
          <p:nvPr/>
        </p:nvSpPr>
        <p:spPr>
          <a:xfrm>
            <a:off x="1571586" y="2552636"/>
            <a:ext cx="4161940" cy="1428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核心3D渲染函数</a:t>
            </a:r>
            <a:r>
              <a:rPr lang="en-US" sz="9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render_3d_view()</a:t>
            </a: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，结合</a:t>
            </a:r>
            <a:r>
              <a:rPr lang="en-US" sz="9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draw_line()</a:t>
            </a: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实现画面构建。</a:t>
            </a:r>
            <a:endParaRPr lang="en-US" sz="1050" dirty="0"/>
          </a:p>
        </p:txBody>
      </p:sp>
      <p:sp>
        <p:nvSpPr>
          <p:cNvPr id="20" name="Text 9"/>
          <p:cNvSpPr/>
          <p:nvPr/>
        </p:nvSpPr>
        <p:spPr>
          <a:xfrm>
            <a:off x="809605" y="2819330"/>
            <a:ext cx="123441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0"/>
          <p:cNvSpPr/>
          <p:nvPr/>
        </p:nvSpPr>
        <p:spPr>
          <a:xfrm>
            <a:off x="1000100" y="2819330"/>
            <a:ext cx="428234" cy="1428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UI层：</a:t>
            </a:r>
            <a:endParaRPr lang="en-US" sz="1050" dirty="0"/>
          </a:p>
        </p:txBody>
      </p:sp>
      <p:sp>
        <p:nvSpPr>
          <p:cNvPr id="22" name="Text 11"/>
          <p:cNvSpPr/>
          <p:nvPr/>
        </p:nvSpPr>
        <p:spPr>
          <a:xfrm>
            <a:off x="1457289" y="2819330"/>
            <a:ext cx="3295187" cy="1428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字模库与</a:t>
            </a:r>
            <a:r>
              <a:rPr lang="en-US" sz="9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disp8()</a:t>
            </a: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函数，负责菜单、文字、数字的显示。</a:t>
            </a:r>
            <a:endParaRPr lang="en-US" sz="1050" dirty="0"/>
          </a:p>
        </p:txBody>
      </p:sp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1095" y="1600160"/>
            <a:ext cx="5391015" cy="2352616"/>
          </a:xfrm>
          <a:prstGeom prst="rect">
            <a:avLst/>
          </a:prstGeom>
        </p:spPr>
      </p:pic>
      <p:pic>
        <p:nvPicPr>
          <p:cNvPr id="24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91115" y="1800180"/>
            <a:ext cx="4990975" cy="352416"/>
          </a:xfrm>
          <a:prstGeom prst="rect">
            <a:avLst/>
          </a:prstGeom>
        </p:spPr>
      </p:pic>
      <p:pic>
        <p:nvPicPr>
          <p:cNvPr id="25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91115" y="1828754"/>
            <a:ext cx="219070" cy="171446"/>
          </a:xfrm>
          <a:prstGeom prst="rect">
            <a:avLst/>
          </a:prstGeom>
        </p:spPr>
      </p:pic>
      <p:sp>
        <p:nvSpPr>
          <p:cNvPr id="26" name="Text 12"/>
          <p:cNvSpPr/>
          <p:nvPr/>
        </p:nvSpPr>
        <p:spPr>
          <a:xfrm>
            <a:off x="6724482" y="1800180"/>
            <a:ext cx="609204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控制模块</a:t>
            </a:r>
            <a:endParaRPr lang="en-US" sz="1200" dirty="0"/>
          </a:p>
        </p:txBody>
      </p:sp>
      <p:sp>
        <p:nvSpPr>
          <p:cNvPr id="27" name="Text 13"/>
          <p:cNvSpPr/>
          <p:nvPr/>
        </p:nvSpPr>
        <p:spPr>
          <a:xfrm>
            <a:off x="6391115" y="2285943"/>
            <a:ext cx="123441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28" name="Text 14"/>
          <p:cNvSpPr/>
          <p:nvPr/>
        </p:nvSpPr>
        <p:spPr>
          <a:xfrm>
            <a:off x="6581610" y="2266893"/>
            <a:ext cx="4381010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输入处理：</a:t>
            </a: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扫描5个独立按键（上、下、左、右、确认），响应玩家操作。</a:t>
            </a:r>
            <a:endParaRPr lang="en-US" sz="1050" dirty="0"/>
          </a:p>
        </p:txBody>
      </p:sp>
      <p:sp>
        <p:nvSpPr>
          <p:cNvPr id="29" name="Text 15"/>
          <p:cNvSpPr/>
          <p:nvPr/>
        </p:nvSpPr>
        <p:spPr>
          <a:xfrm>
            <a:off x="6391115" y="2552636"/>
            <a:ext cx="123441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30" name="Text 16"/>
          <p:cNvSpPr/>
          <p:nvPr/>
        </p:nvSpPr>
        <p:spPr>
          <a:xfrm>
            <a:off x="6581610" y="2533587"/>
            <a:ext cx="4314336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游戏逻辑：</a:t>
            </a: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实现玩家移动（前进、后退、转向）、碰撞检测与坐标更新。</a:t>
            </a:r>
            <a:endParaRPr lang="en-US" sz="1050" dirty="0"/>
          </a:p>
        </p:txBody>
      </p:sp>
      <p:sp>
        <p:nvSpPr>
          <p:cNvPr id="31" name="Text 17"/>
          <p:cNvSpPr/>
          <p:nvPr/>
        </p:nvSpPr>
        <p:spPr>
          <a:xfrm>
            <a:off x="6391115" y="2819330"/>
            <a:ext cx="123441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32" name="Text 18"/>
          <p:cNvSpPr/>
          <p:nvPr/>
        </p:nvSpPr>
        <p:spPr>
          <a:xfrm>
            <a:off x="6581610" y="2800280"/>
            <a:ext cx="4047643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状态管理：</a:t>
            </a: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根据玩家输入，切换游戏状态（如开始、暂停、退出）。</a:t>
            </a:r>
            <a:endParaRPr lang="en-US" sz="105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585" y="4133747"/>
            <a:ext cx="5391015" cy="2352616"/>
          </a:xfrm>
          <a:prstGeom prst="rect">
            <a:avLst/>
          </a:prstGeom>
        </p:spPr>
      </p:pic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605" y="4333767"/>
            <a:ext cx="4990975" cy="352416"/>
          </a:xfrm>
          <a:prstGeom prst="rect">
            <a:avLst/>
          </a:prstGeom>
        </p:spPr>
      </p:pic>
      <p:pic>
        <p:nvPicPr>
          <p:cNvPr id="35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9605" y="4362341"/>
            <a:ext cx="219070" cy="171446"/>
          </a:xfrm>
          <a:prstGeom prst="rect">
            <a:avLst/>
          </a:prstGeom>
        </p:spPr>
      </p:pic>
      <p:sp>
        <p:nvSpPr>
          <p:cNvPr id="36" name="Text 19"/>
          <p:cNvSpPr/>
          <p:nvPr/>
        </p:nvSpPr>
        <p:spPr>
          <a:xfrm>
            <a:off x="1142971" y="4333767"/>
            <a:ext cx="609204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音效模块</a:t>
            </a:r>
            <a:endParaRPr lang="en-US" sz="1200" dirty="0"/>
          </a:p>
        </p:txBody>
      </p:sp>
      <p:sp>
        <p:nvSpPr>
          <p:cNvPr id="37" name="Text 20"/>
          <p:cNvSpPr/>
          <p:nvPr/>
        </p:nvSpPr>
        <p:spPr>
          <a:xfrm>
            <a:off x="809605" y="4819530"/>
            <a:ext cx="123441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38" name="Text 21"/>
          <p:cNvSpPr/>
          <p:nvPr/>
        </p:nvSpPr>
        <p:spPr>
          <a:xfrm>
            <a:off x="1000100" y="4819530"/>
            <a:ext cx="675877" cy="1428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音源生成：</a:t>
            </a:r>
            <a:endParaRPr lang="en-US" sz="1050" dirty="0"/>
          </a:p>
        </p:txBody>
      </p:sp>
      <p:sp>
        <p:nvSpPr>
          <p:cNvPr id="39" name="Text 22"/>
          <p:cNvSpPr/>
          <p:nvPr/>
        </p:nvSpPr>
        <p:spPr>
          <a:xfrm>
            <a:off x="1704932" y="4819530"/>
            <a:ext cx="3761900" cy="1428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基于定时器（</a:t>
            </a:r>
            <a:r>
              <a:rPr lang="en-US" sz="9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Timer0</a:t>
            </a: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）中断，驱动蜂鸣器产生不同频率的方波。</a:t>
            </a:r>
            <a:endParaRPr lang="en-US" sz="1050" dirty="0"/>
          </a:p>
        </p:txBody>
      </p:sp>
      <p:sp>
        <p:nvSpPr>
          <p:cNvPr id="40" name="Text 23"/>
          <p:cNvSpPr/>
          <p:nvPr/>
        </p:nvSpPr>
        <p:spPr>
          <a:xfrm>
            <a:off x="809605" y="5086223"/>
            <a:ext cx="123441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41" name="Text 24"/>
          <p:cNvSpPr/>
          <p:nvPr/>
        </p:nvSpPr>
        <p:spPr>
          <a:xfrm>
            <a:off x="1000100" y="5067173"/>
            <a:ext cx="4809624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节奏控制：</a:t>
            </a: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通过改变中断延时，播放简单的背景音乐与提示音（脚步声、撞墙音）。</a:t>
            </a:r>
            <a:endParaRPr lang="en-US" sz="1050" dirty="0"/>
          </a:p>
        </p:txBody>
      </p:sp>
      <p:sp>
        <p:nvSpPr>
          <p:cNvPr id="42" name="Text 25"/>
          <p:cNvSpPr/>
          <p:nvPr/>
        </p:nvSpPr>
        <p:spPr>
          <a:xfrm>
            <a:off x="809605" y="5543411"/>
            <a:ext cx="123441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43" name="Text 26"/>
          <p:cNvSpPr/>
          <p:nvPr/>
        </p:nvSpPr>
        <p:spPr>
          <a:xfrm>
            <a:off x="1000100" y="5524362"/>
            <a:ext cx="3647603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非阻塞设计：</a:t>
            </a: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音效播放不影响主渲染循环，保证游戏流畅性。</a:t>
            </a:r>
            <a:endParaRPr lang="en-US" sz="1050" dirty="0"/>
          </a:p>
        </p:txBody>
      </p:sp>
      <p:pic>
        <p:nvPicPr>
          <p:cNvPr id="44" name="Image 1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1095" y="4133747"/>
            <a:ext cx="5391015" cy="2352616"/>
          </a:xfrm>
          <a:prstGeom prst="rect">
            <a:avLst/>
          </a:prstGeom>
        </p:spPr>
      </p:pic>
      <p:pic>
        <p:nvPicPr>
          <p:cNvPr id="45" name="Image 1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91115" y="4333767"/>
            <a:ext cx="4990975" cy="352416"/>
          </a:xfrm>
          <a:prstGeom prst="rect">
            <a:avLst/>
          </a:prstGeom>
        </p:spPr>
      </p:pic>
      <p:pic>
        <p:nvPicPr>
          <p:cNvPr id="46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91115" y="4362341"/>
            <a:ext cx="200020" cy="171446"/>
          </a:xfrm>
          <a:prstGeom prst="rect">
            <a:avLst/>
          </a:prstGeom>
        </p:spPr>
      </p:pic>
      <p:sp>
        <p:nvSpPr>
          <p:cNvPr id="47" name="Text 27"/>
          <p:cNvSpPr/>
          <p:nvPr/>
        </p:nvSpPr>
        <p:spPr>
          <a:xfrm>
            <a:off x="6705432" y="4333767"/>
            <a:ext cx="456808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状态机</a:t>
            </a:r>
            <a:endParaRPr lang="en-US" sz="1200" dirty="0"/>
          </a:p>
        </p:txBody>
      </p:sp>
      <p:sp>
        <p:nvSpPr>
          <p:cNvPr id="48" name="Text 28"/>
          <p:cNvSpPr/>
          <p:nvPr/>
        </p:nvSpPr>
        <p:spPr>
          <a:xfrm>
            <a:off x="6391115" y="4819530"/>
            <a:ext cx="123441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49" name="Text 29"/>
          <p:cNvSpPr/>
          <p:nvPr/>
        </p:nvSpPr>
        <p:spPr>
          <a:xfrm>
            <a:off x="6581610" y="4800480"/>
            <a:ext cx="4809624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核心调度：</a:t>
            </a: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作为系统中枢，管理不同界面（主菜单、游戏、暂停、设置、记录）的切换与逻辑流转。</a:t>
            </a:r>
            <a:endParaRPr lang="en-US" sz="1050" dirty="0"/>
          </a:p>
        </p:txBody>
      </p:sp>
      <p:sp>
        <p:nvSpPr>
          <p:cNvPr id="50" name="Text 30"/>
          <p:cNvSpPr/>
          <p:nvPr/>
        </p:nvSpPr>
        <p:spPr>
          <a:xfrm>
            <a:off x="6391115" y="5276718"/>
            <a:ext cx="123441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51" name="Text 31"/>
          <p:cNvSpPr/>
          <p:nvPr/>
        </p:nvSpPr>
        <p:spPr>
          <a:xfrm>
            <a:off x="6581610" y="5257669"/>
            <a:ext cx="4809624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状态定义：</a:t>
            </a: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Begin_board, Game_board, Stop_board, Setting_board, Record_board</a:t>
            </a:r>
            <a:endParaRPr lang="en-US" sz="1050" dirty="0"/>
          </a:p>
        </p:txBody>
      </p:sp>
      <p:sp>
        <p:nvSpPr>
          <p:cNvPr id="52" name="Text 32"/>
          <p:cNvSpPr/>
          <p:nvPr/>
        </p:nvSpPr>
        <p:spPr>
          <a:xfrm>
            <a:off x="6391115" y="5733907"/>
            <a:ext cx="123441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53" name="Text 33"/>
          <p:cNvSpPr/>
          <p:nvPr/>
        </p:nvSpPr>
        <p:spPr>
          <a:xfrm>
            <a:off x="6581610" y="5714857"/>
            <a:ext cx="4314336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事件驱动：</a:t>
            </a: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响应按键事件，触发状态转换，确保界面逻辑清晰、可扩展。</a:t>
            </a:r>
            <a:endParaRPr lang="en-US" sz="1050" dirty="0"/>
          </a:p>
        </p:txBody>
      </p:sp>
      <p:sp>
        <p:nvSpPr>
          <p:cNvPr id="54" name="Text 34"/>
          <p:cNvSpPr/>
          <p:nvPr/>
        </p:nvSpPr>
        <p:spPr>
          <a:xfrm>
            <a:off x="380990" y="6476838"/>
            <a:ext cx="2152215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SYS.ARCH.MODULAR // 2026.04.18</a:t>
            </a:r>
            <a:endParaRPr lang="en-US" sz="900" dirty="0"/>
          </a:p>
        </p:txBody>
      </p:sp>
      <p:sp>
        <p:nvSpPr>
          <p:cNvPr id="55" name="Text 35"/>
          <p:cNvSpPr/>
          <p:nvPr/>
        </p:nvSpPr>
        <p:spPr>
          <a:xfrm>
            <a:off x="10515337" y="6476838"/>
            <a:ext cx="1314036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4×MODULE // 51MCU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990" y="380990"/>
            <a:ext cx="761981" cy="761981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8724" y="380990"/>
            <a:ext cx="761981" cy="76198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990" y="5714857"/>
            <a:ext cx="761981" cy="761981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8724" y="5714857"/>
            <a:ext cx="761981" cy="76198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585" y="533387"/>
            <a:ext cx="457189" cy="9525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1219170" y="457189"/>
            <a:ext cx="1980770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Breakthrough</a:t>
            </a:r>
            <a:endParaRPr lang="en-US" sz="900" dirty="0"/>
          </a:p>
        </p:txBody>
      </p:sp>
      <p:sp>
        <p:nvSpPr>
          <p:cNvPr id="9" name="Text 1"/>
          <p:cNvSpPr/>
          <p:nvPr/>
        </p:nvSpPr>
        <p:spPr>
          <a:xfrm>
            <a:off x="609585" y="685783"/>
            <a:ext cx="10981670" cy="5429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核心技术突破</a:t>
            </a:r>
            <a:endParaRPr lang="en-US" sz="2850" dirty="0"/>
          </a:p>
        </p:txBody>
      </p:sp>
      <p:sp>
        <p:nvSpPr>
          <p:cNvPr id="10" name="Text 2"/>
          <p:cNvSpPr/>
          <p:nvPr/>
        </p:nvSpPr>
        <p:spPr>
          <a:xfrm>
            <a:off x="609585" y="1342991"/>
            <a:ext cx="8543331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项目最大的挑战在于51单片机</a:t>
            </a: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无硬件浮点运算器（FPU）</a:t>
            </a: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且</a:t>
            </a: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RAM极小</a:t>
            </a: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。我们通过两项关键技术突破，成功在"算力荒漠"中实现了实时3D渲染。</a:t>
            </a:r>
            <a:endParaRPr lang="en-US" sz="1050" dirty="0"/>
          </a:p>
        </p:txBody>
      </p:sp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585" y="1714457"/>
            <a:ext cx="5333867" cy="4771906"/>
          </a:xfrm>
          <a:prstGeom prst="rect">
            <a:avLst/>
          </a:prstGeom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704" y="1952576"/>
            <a:ext cx="380990" cy="380990"/>
          </a:xfrm>
          <a:prstGeom prst="rect">
            <a:avLst/>
          </a:prstGeom>
        </p:spPr>
      </p:pic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2476" y="2057349"/>
            <a:ext cx="171446" cy="171446"/>
          </a:xfrm>
          <a:prstGeom prst="rect">
            <a:avLst/>
          </a:prstGeom>
        </p:spPr>
      </p:pic>
      <p:sp>
        <p:nvSpPr>
          <p:cNvPr id="14" name="Text 3"/>
          <p:cNvSpPr/>
          <p:nvPr/>
        </p:nvSpPr>
        <p:spPr>
          <a:xfrm>
            <a:off x="1342991" y="2009725"/>
            <a:ext cx="1123541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光线投射算法</a:t>
            </a:r>
            <a:endParaRPr lang="en-US" sz="1500" dirty="0"/>
          </a:p>
        </p:txBody>
      </p:sp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179" y="2590735"/>
            <a:ext cx="85723" cy="85723"/>
          </a:xfrm>
          <a:prstGeom prst="rect">
            <a:avLst/>
          </a:prstGeom>
        </p:spPr>
      </p:pic>
      <p:sp>
        <p:nvSpPr>
          <p:cNvPr id="16" name="Text 4"/>
          <p:cNvSpPr/>
          <p:nvPr/>
        </p:nvSpPr>
        <p:spPr>
          <a:xfrm>
            <a:off x="1019150" y="2524062"/>
            <a:ext cx="4695327" cy="47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原理：</a:t>
            </a: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从玩家视点出发，向视野范围内的每个角度投射一条"光线"，检测其与地图墙壁的交点，从而计算出墙壁的距离。</a:t>
            </a:r>
            <a:endParaRPr lang="en-US" sz="1200" dirty="0"/>
          </a:p>
        </p:txBody>
      </p:sp>
      <p:pic>
        <p:nvPicPr>
          <p:cNvPr id="17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179" y="3219370"/>
            <a:ext cx="85723" cy="85723"/>
          </a:xfrm>
          <a:prstGeom prst="rect">
            <a:avLst/>
          </a:prstGeom>
        </p:spPr>
      </p:pic>
      <p:sp>
        <p:nvSpPr>
          <p:cNvPr id="18" name="Text 5"/>
          <p:cNvSpPr/>
          <p:nvPr/>
        </p:nvSpPr>
        <p:spPr>
          <a:xfrm>
            <a:off x="1019150" y="3152696"/>
            <a:ext cx="4695327" cy="47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实现：</a:t>
            </a: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</a:t>
            </a:r>
            <a:r>
              <a:rPr lang="en-US" sz="9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cast_ray()</a:t>
            </a: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函数，对屏幕每一列像素进行一次光线计算，得到该列对应的墙壁距离。</a:t>
            </a:r>
            <a:endParaRPr lang="en-US" sz="1200" dirty="0"/>
          </a:p>
        </p:txBody>
      </p:sp>
      <p:pic>
        <p:nvPicPr>
          <p:cNvPr id="19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179" y="3838479"/>
            <a:ext cx="85723" cy="85723"/>
          </a:xfrm>
          <a:prstGeom prst="rect">
            <a:avLst/>
          </a:prstGeom>
        </p:spPr>
      </p:pic>
      <p:sp>
        <p:nvSpPr>
          <p:cNvPr id="20" name="Text 6"/>
          <p:cNvSpPr/>
          <p:nvPr/>
        </p:nvSpPr>
        <p:spPr>
          <a:xfrm>
            <a:off x="1019150" y="3771806"/>
            <a:ext cx="4695327" cy="47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优势：</a:t>
            </a: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相比传统3D引擎，计算量大幅降低，非常适合处理能力有限的单片机平台，是早期3D游戏（如《德军总部3D》）的核心技术。</a:t>
            </a:r>
            <a:endParaRPr lang="en-US" sz="1200" dirty="0"/>
          </a:p>
        </p:txBody>
      </p:sp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7704" y="5924402"/>
            <a:ext cx="4857629" cy="314317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7704" y="6105372"/>
            <a:ext cx="114297" cy="114297"/>
          </a:xfrm>
          <a:prstGeom prst="rect">
            <a:avLst/>
          </a:prstGeom>
        </p:spPr>
      </p:pic>
      <p:sp>
        <p:nvSpPr>
          <p:cNvPr id="23" name="Text 7"/>
          <p:cNvSpPr/>
          <p:nvPr/>
        </p:nvSpPr>
        <p:spPr>
          <a:xfrm>
            <a:off x="1038199" y="6086323"/>
            <a:ext cx="2466533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 CASTING ENGINE // OPTIMIZED FOR 8051</a:t>
            </a:r>
            <a:endParaRPr lang="en-US" sz="900" dirty="0"/>
          </a:p>
        </p:txBody>
      </p:sp>
      <p:pic>
        <p:nvPicPr>
          <p:cNvPr id="24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244" y="1714457"/>
            <a:ext cx="5333867" cy="4771906"/>
          </a:xfrm>
          <a:prstGeom prst="rect">
            <a:avLst/>
          </a:prstGeom>
        </p:spPr>
      </p:pic>
      <p:pic>
        <p:nvPicPr>
          <p:cNvPr id="25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86363" y="1952576"/>
            <a:ext cx="380990" cy="380990"/>
          </a:xfrm>
          <a:prstGeom prst="rect">
            <a:avLst/>
          </a:prstGeom>
        </p:spPr>
      </p:pic>
      <p:pic>
        <p:nvPicPr>
          <p:cNvPr id="26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19710" y="2057349"/>
            <a:ext cx="133347" cy="171446"/>
          </a:xfrm>
          <a:prstGeom prst="rect">
            <a:avLst/>
          </a:prstGeom>
        </p:spPr>
      </p:pic>
      <p:sp>
        <p:nvSpPr>
          <p:cNvPr id="27" name="Text 8"/>
          <p:cNvSpPr/>
          <p:nvPr/>
        </p:nvSpPr>
        <p:spPr>
          <a:xfrm>
            <a:off x="6981650" y="2009725"/>
            <a:ext cx="942571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定点数运算</a:t>
            </a:r>
            <a:endParaRPr lang="en-US" sz="1500" dirty="0"/>
          </a:p>
        </p:txBody>
      </p:sp>
      <p:pic>
        <p:nvPicPr>
          <p:cNvPr id="28" name="Image 1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6838" y="2590735"/>
            <a:ext cx="85723" cy="85723"/>
          </a:xfrm>
          <a:prstGeom prst="rect">
            <a:avLst/>
          </a:prstGeom>
        </p:spPr>
      </p:pic>
      <p:sp>
        <p:nvSpPr>
          <p:cNvPr id="29" name="Text 9"/>
          <p:cNvSpPr/>
          <p:nvPr/>
        </p:nvSpPr>
        <p:spPr>
          <a:xfrm>
            <a:off x="6657809" y="2524062"/>
            <a:ext cx="4695327" cy="47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问题：</a:t>
            </a: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51单片机无法高效处理</a:t>
            </a:r>
            <a:r>
              <a:rPr lang="en-US" sz="9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或</a:t>
            </a:r>
            <a:r>
              <a:rPr lang="en-US" sz="9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类型，直接使用三角函数和浮点运算会导致性能灾难。</a:t>
            </a:r>
            <a:endParaRPr lang="en-US" sz="1200" dirty="0"/>
          </a:p>
        </p:txBody>
      </p:sp>
      <p:pic>
        <p:nvPicPr>
          <p:cNvPr id="30" name="Image 1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6838" y="3219370"/>
            <a:ext cx="85723" cy="85723"/>
          </a:xfrm>
          <a:prstGeom prst="rect">
            <a:avLst/>
          </a:prstGeom>
        </p:spPr>
      </p:pic>
      <p:sp>
        <p:nvSpPr>
          <p:cNvPr id="31" name="Text 10"/>
          <p:cNvSpPr/>
          <p:nvPr/>
        </p:nvSpPr>
        <p:spPr>
          <a:xfrm>
            <a:off x="6657809" y="3152696"/>
            <a:ext cx="4695327" cy="47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方案：</a:t>
            </a: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彻底抛弃浮点数，采用</a:t>
            </a: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256倍定点数</a:t>
            </a: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表示玩家坐标与角度。例如，坐标</a:t>
            </a:r>
            <a:r>
              <a:rPr lang="en-US" sz="9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</a:t>
            </a: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存储为整数</a:t>
            </a:r>
            <a:r>
              <a:rPr lang="en-US" sz="9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384</a:t>
            </a: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（1.5 × 256）。</a:t>
            </a:r>
            <a:endParaRPr lang="en-US" sz="1200" dirty="0"/>
          </a:p>
        </p:txBody>
      </p:sp>
      <p:pic>
        <p:nvPicPr>
          <p:cNvPr id="32" name="Image 1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6838" y="3838479"/>
            <a:ext cx="85723" cy="85723"/>
          </a:xfrm>
          <a:prstGeom prst="rect">
            <a:avLst/>
          </a:prstGeom>
        </p:spPr>
      </p:pic>
      <p:sp>
        <p:nvSpPr>
          <p:cNvPr id="33" name="Text 11"/>
          <p:cNvSpPr/>
          <p:nvPr/>
        </p:nvSpPr>
        <p:spPr>
          <a:xfrm>
            <a:off x="6657809" y="3771806"/>
            <a:ext cx="4695327" cy="714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效果：</a:t>
            </a: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将所有浮点运算转化为整数运算，利用单片机原生指令集实现，速度提升数十倍。同时，通过</a:t>
            </a: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查表法</a:t>
            </a: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预先计算并存储三角函数值，避免了实时计算的巨大开销。</a:t>
            </a:r>
            <a:endParaRPr lang="en-US" sz="1200" dirty="0"/>
          </a:p>
        </p:txBody>
      </p:sp>
      <p:pic>
        <p:nvPicPr>
          <p:cNvPr id="34" name="Image 2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86363" y="5924402"/>
            <a:ext cx="4857629" cy="314317"/>
          </a:xfrm>
          <a:prstGeom prst="rect">
            <a:avLst/>
          </a:prstGeom>
        </p:spPr>
      </p:pic>
      <p:pic>
        <p:nvPicPr>
          <p:cNvPr id="35" name="Image 2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86363" y="6105372"/>
            <a:ext cx="85723" cy="114297"/>
          </a:xfrm>
          <a:prstGeom prst="rect">
            <a:avLst/>
          </a:prstGeom>
        </p:spPr>
      </p:pic>
      <p:sp>
        <p:nvSpPr>
          <p:cNvPr id="36" name="Text 12"/>
          <p:cNvSpPr/>
          <p:nvPr/>
        </p:nvSpPr>
        <p:spPr>
          <a:xfrm>
            <a:off x="6648284" y="6086323"/>
            <a:ext cx="2047443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FIXED-POINT MATH // 256x PRECISION</a:t>
            </a:r>
            <a:endParaRPr lang="en-US" sz="900" dirty="0"/>
          </a:p>
        </p:txBody>
      </p:sp>
      <p:sp>
        <p:nvSpPr>
          <p:cNvPr id="37" name="Text 13"/>
          <p:cNvSpPr/>
          <p:nvPr/>
        </p:nvSpPr>
        <p:spPr>
          <a:xfrm>
            <a:off x="380990" y="6476838"/>
            <a:ext cx="1571205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SYS.VER.2.0 // 2026.04.18</a:t>
            </a:r>
            <a:endParaRPr lang="en-US" sz="900" dirty="0"/>
          </a:p>
        </p:txBody>
      </p:sp>
      <p:sp>
        <p:nvSpPr>
          <p:cNvPr id="38" name="Text 14"/>
          <p:cNvSpPr/>
          <p:nvPr/>
        </p:nvSpPr>
        <p:spPr>
          <a:xfrm>
            <a:off x="9753356" y="6476838"/>
            <a:ext cx="2076017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FPU REQUIRED // OPTIMIZED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990" y="380990"/>
            <a:ext cx="761981" cy="761981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8724" y="380990"/>
            <a:ext cx="761981" cy="76198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990" y="5714857"/>
            <a:ext cx="761981" cy="761981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8724" y="5714857"/>
            <a:ext cx="761981" cy="76198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585" y="533387"/>
            <a:ext cx="457189" cy="9525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1219170" y="457189"/>
            <a:ext cx="1485482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Rendering Pipeline</a:t>
            </a:r>
            <a:endParaRPr lang="en-US" sz="900" dirty="0"/>
          </a:p>
        </p:txBody>
      </p:sp>
      <p:sp>
        <p:nvSpPr>
          <p:cNvPr id="9" name="Text 1"/>
          <p:cNvSpPr/>
          <p:nvPr/>
        </p:nvSpPr>
        <p:spPr>
          <a:xfrm>
            <a:off x="609585" y="685783"/>
            <a:ext cx="10981670" cy="380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3D渲染实现</a:t>
            </a:r>
            <a:endParaRPr lang="en-US" sz="2700" dirty="0"/>
          </a:p>
        </p:txBody>
      </p:sp>
      <p:sp>
        <p:nvSpPr>
          <p:cNvPr id="10" name="Text 2"/>
          <p:cNvSpPr/>
          <p:nvPr/>
        </p:nvSpPr>
        <p:spPr>
          <a:xfrm>
            <a:off x="609585" y="1181070"/>
            <a:ext cx="7324161" cy="247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将二维地图数据通过算法转换，在12864 LCD上呈现具有纵深感的伪3D第一人称视角画面。</a:t>
            </a:r>
            <a:endParaRPr lang="en-US" sz="1200" dirty="0"/>
          </a:p>
        </p:txBody>
      </p:sp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585" y="1733507"/>
            <a:ext cx="2285943" cy="4667133"/>
          </a:xfrm>
          <a:prstGeom prst="rect">
            <a:avLst/>
          </a:prstGeom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605" y="1933527"/>
            <a:ext cx="380990" cy="380990"/>
          </a:xfrm>
          <a:prstGeom prst="rect">
            <a:avLst/>
          </a:prstGeom>
        </p:spPr>
      </p:pic>
      <p:sp>
        <p:nvSpPr>
          <p:cNvPr id="13" name="Text 3"/>
          <p:cNvSpPr/>
          <p:nvPr/>
        </p:nvSpPr>
        <p:spPr>
          <a:xfrm>
            <a:off x="809605" y="1933527"/>
            <a:ext cx="390134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50" dirty="0"/>
          </a:p>
        </p:txBody>
      </p:sp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04892" y="2028774"/>
            <a:ext cx="219070" cy="190495"/>
          </a:xfrm>
          <a:prstGeom prst="rect">
            <a:avLst/>
          </a:prstGeom>
        </p:spPr>
      </p:pic>
      <p:sp>
        <p:nvSpPr>
          <p:cNvPr id="15" name="Text 4"/>
          <p:cNvSpPr/>
          <p:nvPr/>
        </p:nvSpPr>
        <p:spPr>
          <a:xfrm>
            <a:off x="809605" y="2466913"/>
            <a:ext cx="1895047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数据准备</a:t>
            </a:r>
            <a:endParaRPr lang="en-US" sz="1350" dirty="0"/>
          </a:p>
        </p:txBody>
      </p:sp>
      <p:sp>
        <p:nvSpPr>
          <p:cNvPr id="16" name="Text 5"/>
          <p:cNvSpPr/>
          <p:nvPr/>
        </p:nvSpPr>
        <p:spPr>
          <a:xfrm>
            <a:off x="809605" y="2847904"/>
            <a:ext cx="1895047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读取2D地图</a:t>
            </a:r>
            <a:endParaRPr lang="en-US" sz="1050" dirty="0"/>
          </a:p>
        </p:txBody>
      </p:sp>
      <p:pic>
        <p:nvPicPr>
          <p:cNvPr id="17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9605" y="5705332"/>
            <a:ext cx="1885903" cy="495288"/>
          </a:xfrm>
          <a:prstGeom prst="rect">
            <a:avLst/>
          </a:prstGeom>
        </p:spPr>
      </p:pic>
      <p:sp>
        <p:nvSpPr>
          <p:cNvPr id="18" name="Text 6"/>
          <p:cNvSpPr/>
          <p:nvPr/>
        </p:nvSpPr>
        <p:spPr>
          <a:xfrm>
            <a:off x="809605" y="5848204"/>
            <a:ext cx="609204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从二维数组</a:t>
            </a:r>
            <a:endParaRPr lang="en-US" sz="900" dirty="0"/>
          </a:p>
        </p:txBody>
      </p:sp>
      <p:sp>
        <p:nvSpPr>
          <p:cNvPr id="19" name="Text 7"/>
          <p:cNvSpPr/>
          <p:nvPr/>
        </p:nvSpPr>
        <p:spPr>
          <a:xfrm>
            <a:off x="1409665" y="5848204"/>
            <a:ext cx="418709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maze[][]</a:t>
            </a:r>
            <a:endParaRPr lang="en-US" sz="900" dirty="0"/>
          </a:p>
        </p:txBody>
      </p:sp>
      <p:sp>
        <p:nvSpPr>
          <p:cNvPr id="20" name="Text 8"/>
          <p:cNvSpPr/>
          <p:nvPr/>
        </p:nvSpPr>
        <p:spPr>
          <a:xfrm>
            <a:off x="1819230" y="5848204"/>
            <a:ext cx="494907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读取数据</a:t>
            </a:r>
            <a:endParaRPr lang="en-US" sz="900" dirty="0"/>
          </a:p>
        </p:txBody>
      </p:sp>
      <p:sp>
        <p:nvSpPr>
          <p:cNvPr id="21" name="Text 9"/>
          <p:cNvSpPr/>
          <p:nvPr/>
        </p:nvSpPr>
        <p:spPr>
          <a:xfrm>
            <a:off x="809605" y="6038699"/>
            <a:ext cx="66293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2" name="Text 10"/>
          <p:cNvSpPr/>
          <p:nvPr/>
        </p:nvSpPr>
        <p:spPr>
          <a:xfrm>
            <a:off x="866753" y="6038699"/>
            <a:ext cx="456808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墙壁 /</a:t>
            </a:r>
            <a:endParaRPr lang="en-US" sz="900" dirty="0"/>
          </a:p>
        </p:txBody>
      </p:sp>
      <p:sp>
        <p:nvSpPr>
          <p:cNvPr id="23" name="Text 11"/>
          <p:cNvSpPr/>
          <p:nvPr/>
        </p:nvSpPr>
        <p:spPr>
          <a:xfrm>
            <a:off x="1314417" y="6038699"/>
            <a:ext cx="66293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00" dirty="0"/>
          </a:p>
        </p:txBody>
      </p:sp>
      <p:sp>
        <p:nvSpPr>
          <p:cNvPr id="24" name="Text 12"/>
          <p:cNvSpPr/>
          <p:nvPr/>
        </p:nvSpPr>
        <p:spPr>
          <a:xfrm>
            <a:off x="1371566" y="6038699"/>
            <a:ext cx="361560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通路</a:t>
            </a:r>
            <a:endParaRPr lang="en-US" sz="900" dirty="0"/>
          </a:p>
        </p:txBody>
      </p:sp>
      <p:pic>
        <p:nvPicPr>
          <p:cNvPr id="25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43171" y="3971826"/>
            <a:ext cx="123822" cy="190495"/>
          </a:xfrm>
          <a:prstGeom prst="rect">
            <a:avLst/>
          </a:prstGeom>
        </p:spPr>
      </p:pic>
      <p:pic>
        <p:nvPicPr>
          <p:cNvPr id="26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05112" y="1733507"/>
            <a:ext cx="2285943" cy="4667133"/>
          </a:xfrm>
          <a:prstGeom prst="rect">
            <a:avLst/>
          </a:prstGeom>
        </p:spPr>
      </p:pic>
      <p:pic>
        <p:nvPicPr>
          <p:cNvPr id="27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05132" y="1933527"/>
            <a:ext cx="380990" cy="380990"/>
          </a:xfrm>
          <a:prstGeom prst="rect">
            <a:avLst/>
          </a:prstGeom>
        </p:spPr>
      </p:pic>
      <p:sp>
        <p:nvSpPr>
          <p:cNvPr id="28" name="Text 13"/>
          <p:cNvSpPr/>
          <p:nvPr/>
        </p:nvSpPr>
        <p:spPr>
          <a:xfrm>
            <a:off x="3705132" y="1933527"/>
            <a:ext cx="390134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50" dirty="0"/>
          </a:p>
        </p:txBody>
      </p:sp>
      <p:pic>
        <p:nvPicPr>
          <p:cNvPr id="29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00420" y="2028774"/>
            <a:ext cx="219070" cy="190495"/>
          </a:xfrm>
          <a:prstGeom prst="rect">
            <a:avLst/>
          </a:prstGeom>
        </p:spPr>
      </p:pic>
      <p:sp>
        <p:nvSpPr>
          <p:cNvPr id="30" name="Text 14"/>
          <p:cNvSpPr/>
          <p:nvPr/>
        </p:nvSpPr>
        <p:spPr>
          <a:xfrm>
            <a:off x="3705132" y="2466913"/>
            <a:ext cx="1895047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视角计算</a:t>
            </a:r>
            <a:endParaRPr lang="en-US" sz="1350" dirty="0"/>
          </a:p>
        </p:txBody>
      </p:sp>
      <p:sp>
        <p:nvSpPr>
          <p:cNvPr id="31" name="Text 15"/>
          <p:cNvSpPr/>
          <p:nvPr/>
        </p:nvSpPr>
        <p:spPr>
          <a:xfrm>
            <a:off x="3705132" y="2847904"/>
            <a:ext cx="1895047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逐列投射光线</a:t>
            </a:r>
            <a:endParaRPr lang="en-US" sz="1050" dirty="0"/>
          </a:p>
        </p:txBody>
      </p:sp>
      <p:pic>
        <p:nvPicPr>
          <p:cNvPr id="32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05132" y="5524362"/>
            <a:ext cx="1885903" cy="685783"/>
          </a:xfrm>
          <a:prstGeom prst="rect">
            <a:avLst/>
          </a:prstGeom>
        </p:spPr>
      </p:pic>
      <p:sp>
        <p:nvSpPr>
          <p:cNvPr id="33" name="Text 16"/>
          <p:cNvSpPr/>
          <p:nvPr/>
        </p:nvSpPr>
        <p:spPr>
          <a:xfrm>
            <a:off x="3705132" y="5667233"/>
            <a:ext cx="1552155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遍历屏幕128列，计算视角角度</a:t>
            </a:r>
            <a:endParaRPr lang="en-US" sz="900" dirty="0"/>
          </a:p>
        </p:txBody>
      </p:sp>
      <p:sp>
        <p:nvSpPr>
          <p:cNvPr id="34" name="Text 17"/>
          <p:cNvSpPr/>
          <p:nvPr/>
        </p:nvSpPr>
        <p:spPr>
          <a:xfrm>
            <a:off x="3705132" y="5848204"/>
            <a:ext cx="266313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调用</a:t>
            </a:r>
            <a:endParaRPr lang="en-US" sz="900" dirty="0"/>
          </a:p>
        </p:txBody>
      </p:sp>
      <p:sp>
        <p:nvSpPr>
          <p:cNvPr id="35" name="Text 18"/>
          <p:cNvSpPr/>
          <p:nvPr/>
        </p:nvSpPr>
        <p:spPr>
          <a:xfrm>
            <a:off x="3962301" y="5848204"/>
            <a:ext cx="504432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cast_ray()</a:t>
            </a:r>
            <a:endParaRPr lang="en-US" sz="900" dirty="0"/>
          </a:p>
        </p:txBody>
      </p:sp>
      <p:sp>
        <p:nvSpPr>
          <p:cNvPr id="36" name="Text 19"/>
          <p:cNvSpPr/>
          <p:nvPr/>
        </p:nvSpPr>
        <p:spPr>
          <a:xfrm>
            <a:off x="4457589" y="5848204"/>
            <a:ext cx="494907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投射光线</a:t>
            </a:r>
            <a:endParaRPr lang="en-US" sz="900" dirty="0"/>
          </a:p>
        </p:txBody>
      </p:sp>
      <p:sp>
        <p:nvSpPr>
          <p:cNvPr id="37" name="Text 20"/>
          <p:cNvSpPr/>
          <p:nvPr/>
        </p:nvSpPr>
        <p:spPr>
          <a:xfrm>
            <a:off x="3705132" y="6038699"/>
            <a:ext cx="923521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记录光线行进距离</a:t>
            </a:r>
            <a:endParaRPr lang="en-US" sz="900" dirty="0"/>
          </a:p>
        </p:txBody>
      </p:sp>
      <p:pic>
        <p:nvPicPr>
          <p:cNvPr id="38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38699" y="3971826"/>
            <a:ext cx="123822" cy="190495"/>
          </a:xfrm>
          <a:prstGeom prst="rect">
            <a:avLst/>
          </a:prstGeom>
        </p:spPr>
      </p:pic>
      <p:pic>
        <p:nvPicPr>
          <p:cNvPr id="39" name="Image 1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640" y="1733507"/>
            <a:ext cx="2285943" cy="4667133"/>
          </a:xfrm>
          <a:prstGeom prst="rect">
            <a:avLst/>
          </a:prstGeom>
        </p:spPr>
      </p:pic>
      <p:pic>
        <p:nvPicPr>
          <p:cNvPr id="40" name="Image 1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00660" y="1933527"/>
            <a:ext cx="380990" cy="380990"/>
          </a:xfrm>
          <a:prstGeom prst="rect">
            <a:avLst/>
          </a:prstGeom>
        </p:spPr>
      </p:pic>
      <p:sp>
        <p:nvSpPr>
          <p:cNvPr id="41" name="Text 21"/>
          <p:cNvSpPr/>
          <p:nvPr/>
        </p:nvSpPr>
        <p:spPr>
          <a:xfrm>
            <a:off x="6600660" y="1933527"/>
            <a:ext cx="390134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50" dirty="0"/>
          </a:p>
        </p:txBody>
      </p:sp>
      <p:pic>
        <p:nvPicPr>
          <p:cNvPr id="42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95948" y="2028774"/>
            <a:ext cx="190495" cy="190495"/>
          </a:xfrm>
          <a:prstGeom prst="rect">
            <a:avLst/>
          </a:prstGeom>
        </p:spPr>
      </p:pic>
      <p:sp>
        <p:nvSpPr>
          <p:cNvPr id="43" name="Text 22"/>
          <p:cNvSpPr/>
          <p:nvPr/>
        </p:nvSpPr>
        <p:spPr>
          <a:xfrm>
            <a:off x="6600660" y="2466913"/>
            <a:ext cx="1895047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透视变换</a:t>
            </a:r>
            <a:endParaRPr lang="en-US" sz="1350" dirty="0"/>
          </a:p>
        </p:txBody>
      </p:sp>
      <p:sp>
        <p:nvSpPr>
          <p:cNvPr id="44" name="Text 23"/>
          <p:cNvSpPr/>
          <p:nvPr/>
        </p:nvSpPr>
        <p:spPr>
          <a:xfrm>
            <a:off x="6600660" y="2847904"/>
            <a:ext cx="1895047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距离变高度</a:t>
            </a:r>
            <a:endParaRPr lang="en-US" sz="1050" dirty="0"/>
          </a:p>
        </p:txBody>
      </p:sp>
      <p:pic>
        <p:nvPicPr>
          <p:cNvPr id="45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00660" y="5524362"/>
            <a:ext cx="1885903" cy="685783"/>
          </a:xfrm>
          <a:prstGeom prst="rect">
            <a:avLst/>
          </a:prstGeom>
        </p:spPr>
      </p:pic>
      <p:sp>
        <p:nvSpPr>
          <p:cNvPr id="46" name="Text 24"/>
          <p:cNvSpPr/>
          <p:nvPr/>
        </p:nvSpPr>
        <p:spPr>
          <a:xfrm>
            <a:off x="6600660" y="5667233"/>
            <a:ext cx="1018769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根据"近大远小"原理</a:t>
            </a:r>
            <a:endParaRPr lang="en-US" sz="900" dirty="0"/>
          </a:p>
        </p:txBody>
      </p:sp>
      <p:sp>
        <p:nvSpPr>
          <p:cNvPr id="47" name="Text 25"/>
          <p:cNvSpPr/>
          <p:nvPr/>
        </p:nvSpPr>
        <p:spPr>
          <a:xfrm>
            <a:off x="6600660" y="5848204"/>
            <a:ext cx="1094967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距离越近 → 墙壁越高</a:t>
            </a:r>
            <a:endParaRPr lang="en-US" sz="900" dirty="0"/>
          </a:p>
        </p:txBody>
      </p:sp>
      <p:sp>
        <p:nvSpPr>
          <p:cNvPr id="48" name="Text 26"/>
          <p:cNvSpPr/>
          <p:nvPr/>
        </p:nvSpPr>
        <p:spPr>
          <a:xfrm>
            <a:off x="6600660" y="6038699"/>
            <a:ext cx="1094967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距离越远 → 墙壁越低</a:t>
            </a:r>
            <a:endParaRPr lang="en-US" sz="900" dirty="0"/>
          </a:p>
        </p:txBody>
      </p:sp>
      <p:pic>
        <p:nvPicPr>
          <p:cNvPr id="49" name="Image 2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34227" y="3971826"/>
            <a:ext cx="123822" cy="190495"/>
          </a:xfrm>
          <a:prstGeom prst="rect">
            <a:avLst/>
          </a:prstGeom>
        </p:spPr>
      </p:pic>
      <p:pic>
        <p:nvPicPr>
          <p:cNvPr id="50" name="Image 2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96168" y="1733507"/>
            <a:ext cx="2285943" cy="4667133"/>
          </a:xfrm>
          <a:prstGeom prst="rect">
            <a:avLst/>
          </a:prstGeom>
        </p:spPr>
      </p:pic>
      <p:pic>
        <p:nvPicPr>
          <p:cNvPr id="51" name="Image 2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96188" y="1933527"/>
            <a:ext cx="380990" cy="380990"/>
          </a:xfrm>
          <a:prstGeom prst="rect">
            <a:avLst/>
          </a:prstGeom>
        </p:spPr>
      </p:pic>
      <p:sp>
        <p:nvSpPr>
          <p:cNvPr id="52" name="Text 27"/>
          <p:cNvSpPr/>
          <p:nvPr/>
        </p:nvSpPr>
        <p:spPr>
          <a:xfrm>
            <a:off x="9496188" y="1933527"/>
            <a:ext cx="390134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50" dirty="0"/>
          </a:p>
        </p:txBody>
      </p:sp>
      <p:pic>
        <p:nvPicPr>
          <p:cNvPr id="53" name="Image 2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991475" y="2028774"/>
            <a:ext cx="238119" cy="190495"/>
          </a:xfrm>
          <a:prstGeom prst="rect">
            <a:avLst/>
          </a:prstGeom>
        </p:spPr>
      </p:pic>
      <p:sp>
        <p:nvSpPr>
          <p:cNvPr id="54" name="Text 28"/>
          <p:cNvSpPr/>
          <p:nvPr/>
        </p:nvSpPr>
        <p:spPr>
          <a:xfrm>
            <a:off x="9496188" y="2466913"/>
            <a:ext cx="1895047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屏幕绘制</a:t>
            </a:r>
            <a:endParaRPr lang="en-US" sz="1350" dirty="0"/>
          </a:p>
        </p:txBody>
      </p:sp>
      <p:sp>
        <p:nvSpPr>
          <p:cNvPr id="55" name="Text 29"/>
          <p:cNvSpPr/>
          <p:nvPr/>
        </p:nvSpPr>
        <p:spPr>
          <a:xfrm>
            <a:off x="9496188" y="2847904"/>
            <a:ext cx="1895047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绘制垂直线段</a:t>
            </a:r>
            <a:endParaRPr lang="en-US" sz="1050" dirty="0"/>
          </a:p>
        </p:txBody>
      </p:sp>
      <p:pic>
        <p:nvPicPr>
          <p:cNvPr id="56" name="Image 2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96188" y="5524362"/>
            <a:ext cx="1885903" cy="685783"/>
          </a:xfrm>
          <a:prstGeom prst="rect">
            <a:avLst/>
          </a:prstGeom>
        </p:spPr>
      </p:pic>
      <p:sp>
        <p:nvSpPr>
          <p:cNvPr id="57" name="Text 30"/>
          <p:cNvSpPr/>
          <p:nvPr/>
        </p:nvSpPr>
        <p:spPr>
          <a:xfrm>
            <a:off x="9496188" y="5667233"/>
            <a:ext cx="266313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调用</a:t>
            </a:r>
            <a:endParaRPr lang="en-US" sz="900" dirty="0"/>
          </a:p>
        </p:txBody>
      </p:sp>
      <p:sp>
        <p:nvSpPr>
          <p:cNvPr id="58" name="Text 31"/>
          <p:cNvSpPr/>
          <p:nvPr/>
        </p:nvSpPr>
        <p:spPr>
          <a:xfrm>
            <a:off x="9753356" y="5667233"/>
            <a:ext cx="637778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draw_vline()</a:t>
            </a:r>
            <a:endParaRPr lang="en-US" sz="900" dirty="0"/>
          </a:p>
        </p:txBody>
      </p:sp>
      <p:sp>
        <p:nvSpPr>
          <p:cNvPr id="59" name="Text 32"/>
          <p:cNvSpPr/>
          <p:nvPr/>
        </p:nvSpPr>
        <p:spPr>
          <a:xfrm>
            <a:off x="9496188" y="5848204"/>
            <a:ext cx="1266413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在屏幕中心绘制垂直线段</a:t>
            </a:r>
            <a:endParaRPr lang="en-US" sz="900" dirty="0"/>
          </a:p>
        </p:txBody>
      </p:sp>
      <p:sp>
        <p:nvSpPr>
          <p:cNvPr id="60" name="Text 33"/>
          <p:cNvSpPr/>
          <p:nvPr/>
        </p:nvSpPr>
        <p:spPr>
          <a:xfrm>
            <a:off x="9496188" y="6038699"/>
            <a:ext cx="1066393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完成一帧3D画面渲染</a:t>
            </a:r>
            <a:endParaRPr lang="en-US" sz="900" dirty="0"/>
          </a:p>
        </p:txBody>
      </p:sp>
      <p:sp>
        <p:nvSpPr>
          <p:cNvPr id="61" name="Text 34"/>
          <p:cNvSpPr/>
          <p:nvPr/>
        </p:nvSpPr>
        <p:spPr>
          <a:xfrm>
            <a:off x="380990" y="6476838"/>
            <a:ext cx="1961720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RENDER.PIPELINE // 2026.04.18</a:t>
            </a:r>
            <a:endParaRPr lang="en-US" sz="900" dirty="0"/>
          </a:p>
        </p:txBody>
      </p:sp>
      <p:sp>
        <p:nvSpPr>
          <p:cNvPr id="62" name="Text 35"/>
          <p:cNvSpPr/>
          <p:nvPr/>
        </p:nvSpPr>
        <p:spPr>
          <a:xfrm>
            <a:off x="10239119" y="6476838"/>
            <a:ext cx="1590254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128×64 DISPLAY // FPS:30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990" y="380990"/>
            <a:ext cx="761981" cy="761981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8724" y="380990"/>
            <a:ext cx="761981" cy="76198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990" y="5714857"/>
            <a:ext cx="761981" cy="761981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8724" y="5714857"/>
            <a:ext cx="761981" cy="76198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585" y="533387"/>
            <a:ext cx="457189" cy="9525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1219170" y="457189"/>
            <a:ext cx="1285462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Features</a:t>
            </a:r>
            <a:endParaRPr lang="en-US" sz="900" dirty="0"/>
          </a:p>
        </p:txBody>
      </p:sp>
      <p:sp>
        <p:nvSpPr>
          <p:cNvPr id="9" name="Text 1"/>
          <p:cNvSpPr/>
          <p:nvPr/>
        </p:nvSpPr>
        <p:spPr>
          <a:xfrm>
            <a:off x="609585" y="685783"/>
            <a:ext cx="10981670" cy="5429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游戏功能展示</a:t>
            </a:r>
            <a:endParaRPr lang="en-US" sz="2850" dirty="0"/>
          </a:p>
        </p:txBody>
      </p:sp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585" y="1457289"/>
            <a:ext cx="5371966" cy="2533587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704" y="1743031"/>
            <a:ext cx="152396" cy="171446"/>
          </a:xfrm>
          <a:prstGeom prst="rect">
            <a:avLst/>
          </a:prstGeom>
        </p:spPr>
      </p:pic>
      <p:sp>
        <p:nvSpPr>
          <p:cNvPr id="12" name="Text 2"/>
          <p:cNvSpPr/>
          <p:nvPr/>
        </p:nvSpPr>
        <p:spPr>
          <a:xfrm>
            <a:off x="1114397" y="1695408"/>
            <a:ext cx="513956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主菜单</a:t>
            </a:r>
            <a:endParaRPr lang="en-US" sz="1350" dirty="0"/>
          </a:p>
        </p:txBody>
      </p:sp>
      <p:sp>
        <p:nvSpPr>
          <p:cNvPr id="13" name="Text 3"/>
          <p:cNvSpPr/>
          <p:nvPr/>
        </p:nvSpPr>
        <p:spPr>
          <a:xfrm>
            <a:off x="847704" y="2133547"/>
            <a:ext cx="56768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050" dirty="0"/>
          </a:p>
        </p:txBody>
      </p:sp>
      <p:sp>
        <p:nvSpPr>
          <p:cNvPr id="14" name="Text 4"/>
          <p:cNvSpPr/>
          <p:nvPr/>
        </p:nvSpPr>
        <p:spPr>
          <a:xfrm>
            <a:off x="971526" y="2114497"/>
            <a:ext cx="1647403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新游戏：</a:t>
            </a: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直接进入迷宫探索</a:t>
            </a:r>
            <a:endParaRPr lang="en-US" sz="1050" dirty="0"/>
          </a:p>
        </p:txBody>
      </p:sp>
      <p:sp>
        <p:nvSpPr>
          <p:cNvPr id="15" name="Text 5"/>
          <p:cNvSpPr/>
          <p:nvPr/>
        </p:nvSpPr>
        <p:spPr>
          <a:xfrm>
            <a:off x="847704" y="2485963"/>
            <a:ext cx="56768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050" dirty="0"/>
          </a:p>
        </p:txBody>
      </p:sp>
      <p:sp>
        <p:nvSpPr>
          <p:cNvPr id="16" name="Text 6"/>
          <p:cNvSpPr/>
          <p:nvPr/>
        </p:nvSpPr>
        <p:spPr>
          <a:xfrm>
            <a:off x="971526" y="2466913"/>
            <a:ext cx="2180790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记录：</a:t>
            </a: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查看历史最高分（功能预留）</a:t>
            </a:r>
            <a:endParaRPr lang="en-US" sz="1050" dirty="0"/>
          </a:p>
        </p:txBody>
      </p:sp>
      <p:sp>
        <p:nvSpPr>
          <p:cNvPr id="17" name="Text 7"/>
          <p:cNvSpPr/>
          <p:nvPr/>
        </p:nvSpPr>
        <p:spPr>
          <a:xfrm>
            <a:off x="847704" y="2838379"/>
            <a:ext cx="56768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050" dirty="0"/>
          </a:p>
        </p:txBody>
      </p:sp>
      <p:sp>
        <p:nvSpPr>
          <p:cNvPr id="18" name="Text 8"/>
          <p:cNvSpPr/>
          <p:nvPr/>
        </p:nvSpPr>
        <p:spPr>
          <a:xfrm>
            <a:off x="971526" y="2819330"/>
            <a:ext cx="1552155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设置：</a:t>
            </a: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开启/关闭背景音乐</a:t>
            </a:r>
            <a:endParaRPr lang="en-US" sz="105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0145" y="1457289"/>
            <a:ext cx="5371966" cy="2533587"/>
          </a:xfrm>
          <a:prstGeom prst="rect">
            <a:avLst/>
          </a:prstGeom>
        </p:spPr>
      </p:pic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8264" y="1743031"/>
            <a:ext cx="219070" cy="171446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6781630" y="1695408"/>
            <a:ext cx="685402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游戏界面</a:t>
            </a:r>
            <a:endParaRPr lang="en-US" sz="1350" dirty="0"/>
          </a:p>
        </p:txBody>
      </p:sp>
      <p:sp>
        <p:nvSpPr>
          <p:cNvPr id="22" name="Text 10"/>
          <p:cNvSpPr/>
          <p:nvPr/>
        </p:nvSpPr>
        <p:spPr>
          <a:xfrm>
            <a:off x="6448264" y="2133547"/>
            <a:ext cx="56768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050" dirty="0"/>
          </a:p>
        </p:txBody>
      </p:sp>
      <p:sp>
        <p:nvSpPr>
          <p:cNvPr id="23" name="Text 11"/>
          <p:cNvSpPr/>
          <p:nvPr/>
        </p:nvSpPr>
        <p:spPr>
          <a:xfrm>
            <a:off x="6572086" y="2114497"/>
            <a:ext cx="2209364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第一人称3D视角：</a:t>
            </a: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实时渲染迷宫走廊</a:t>
            </a:r>
            <a:endParaRPr lang="en-US" sz="1050" dirty="0"/>
          </a:p>
        </p:txBody>
      </p:sp>
      <p:sp>
        <p:nvSpPr>
          <p:cNvPr id="24" name="Text 12"/>
          <p:cNvSpPr/>
          <p:nvPr/>
        </p:nvSpPr>
        <p:spPr>
          <a:xfrm>
            <a:off x="6448264" y="2485963"/>
            <a:ext cx="56768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050" dirty="0"/>
          </a:p>
        </p:txBody>
      </p:sp>
      <p:sp>
        <p:nvSpPr>
          <p:cNvPr id="25" name="Text 13"/>
          <p:cNvSpPr/>
          <p:nvPr/>
        </p:nvSpPr>
        <p:spPr>
          <a:xfrm>
            <a:off x="6572086" y="2466913"/>
            <a:ext cx="1980770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目标：</a:t>
            </a: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在16x16的迷宫中寻找终点</a:t>
            </a:r>
            <a:endParaRPr lang="en-US" sz="1050" dirty="0"/>
          </a:p>
        </p:txBody>
      </p:sp>
      <p:sp>
        <p:nvSpPr>
          <p:cNvPr id="26" name="Text 14"/>
          <p:cNvSpPr/>
          <p:nvPr/>
        </p:nvSpPr>
        <p:spPr>
          <a:xfrm>
            <a:off x="6448264" y="2838379"/>
            <a:ext cx="56768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050" dirty="0"/>
          </a:p>
        </p:txBody>
      </p:sp>
      <p:sp>
        <p:nvSpPr>
          <p:cNvPr id="27" name="Text 15"/>
          <p:cNvSpPr/>
          <p:nvPr/>
        </p:nvSpPr>
        <p:spPr>
          <a:xfrm>
            <a:off x="6572086" y="2819330"/>
            <a:ext cx="2180790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状态显示：</a:t>
            </a: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实时显示玩家位置与朝向</a:t>
            </a:r>
            <a:endParaRPr lang="en-US" sz="105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585" y="4219470"/>
            <a:ext cx="5371966" cy="2190695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7704" y="4505212"/>
            <a:ext cx="114297" cy="171446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1076298" y="4457589"/>
            <a:ext cx="847323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暂停与设置</a:t>
            </a:r>
            <a:endParaRPr lang="en-US" sz="1350" dirty="0"/>
          </a:p>
        </p:txBody>
      </p:sp>
      <p:sp>
        <p:nvSpPr>
          <p:cNvPr id="31" name="Text 17"/>
          <p:cNvSpPr/>
          <p:nvPr/>
        </p:nvSpPr>
        <p:spPr>
          <a:xfrm>
            <a:off x="847704" y="4895728"/>
            <a:ext cx="56768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050" dirty="0"/>
          </a:p>
        </p:txBody>
      </p:sp>
      <p:sp>
        <p:nvSpPr>
          <p:cNvPr id="32" name="Text 18"/>
          <p:cNvSpPr/>
          <p:nvPr/>
        </p:nvSpPr>
        <p:spPr>
          <a:xfrm>
            <a:off x="971526" y="4876678"/>
            <a:ext cx="3199939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暂停功能：</a:t>
            </a: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游戏中随时暂停，提供"返回"与"继续"选项</a:t>
            </a:r>
            <a:endParaRPr lang="en-US" sz="1050" dirty="0"/>
          </a:p>
        </p:txBody>
      </p:sp>
      <p:sp>
        <p:nvSpPr>
          <p:cNvPr id="33" name="Text 19"/>
          <p:cNvSpPr/>
          <p:nvPr/>
        </p:nvSpPr>
        <p:spPr>
          <a:xfrm>
            <a:off x="847704" y="5248144"/>
            <a:ext cx="56768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050" dirty="0"/>
          </a:p>
        </p:txBody>
      </p:sp>
      <p:sp>
        <p:nvSpPr>
          <p:cNvPr id="34" name="Text 20"/>
          <p:cNvSpPr/>
          <p:nvPr/>
        </p:nvSpPr>
        <p:spPr>
          <a:xfrm>
            <a:off x="971526" y="5229094"/>
            <a:ext cx="2580830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音乐控制：</a:t>
            </a: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在设置界面可实时开关背景音乐</a:t>
            </a:r>
            <a:endParaRPr lang="en-US" sz="1050" dirty="0"/>
          </a:p>
        </p:txBody>
      </p:sp>
      <p:pic>
        <p:nvPicPr>
          <p:cNvPr id="35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0145" y="4219470"/>
            <a:ext cx="5371966" cy="2190695"/>
          </a:xfrm>
          <a:prstGeom prst="rect">
            <a:avLst/>
          </a:prstGeom>
        </p:spPr>
      </p:pic>
      <p:pic>
        <p:nvPicPr>
          <p:cNvPr id="36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48264" y="4505212"/>
            <a:ext cx="200020" cy="171446"/>
          </a:xfrm>
          <a:prstGeom prst="rect">
            <a:avLst/>
          </a:prstGeom>
        </p:spPr>
      </p:pic>
      <p:sp>
        <p:nvSpPr>
          <p:cNvPr id="37" name="Text 21"/>
          <p:cNvSpPr/>
          <p:nvPr/>
        </p:nvSpPr>
        <p:spPr>
          <a:xfrm>
            <a:off x="6762581" y="4457589"/>
            <a:ext cx="685402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交互控制</a:t>
            </a:r>
            <a:endParaRPr lang="en-US" sz="1350" dirty="0"/>
          </a:p>
        </p:txBody>
      </p:sp>
      <p:sp>
        <p:nvSpPr>
          <p:cNvPr id="38" name="Text 22"/>
          <p:cNvSpPr/>
          <p:nvPr/>
        </p:nvSpPr>
        <p:spPr>
          <a:xfrm>
            <a:off x="6448264" y="4895728"/>
            <a:ext cx="56768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050" dirty="0"/>
          </a:p>
        </p:txBody>
      </p:sp>
      <p:sp>
        <p:nvSpPr>
          <p:cNvPr id="39" name="Text 23"/>
          <p:cNvSpPr/>
          <p:nvPr/>
        </p:nvSpPr>
        <p:spPr>
          <a:xfrm>
            <a:off x="6572086" y="4876678"/>
            <a:ext cx="3428534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方向键：</a:t>
            </a: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UP/DOWN控制前进后退，LEFT/RIGHT控制转向</a:t>
            </a:r>
            <a:endParaRPr lang="en-US" sz="1050" dirty="0"/>
          </a:p>
        </p:txBody>
      </p:sp>
      <p:sp>
        <p:nvSpPr>
          <p:cNvPr id="40" name="Text 24"/>
          <p:cNvSpPr/>
          <p:nvPr/>
        </p:nvSpPr>
        <p:spPr>
          <a:xfrm>
            <a:off x="6448264" y="5248144"/>
            <a:ext cx="56768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050" dirty="0"/>
          </a:p>
        </p:txBody>
      </p:sp>
      <p:sp>
        <p:nvSpPr>
          <p:cNvPr id="41" name="Text 25"/>
          <p:cNvSpPr/>
          <p:nvPr/>
        </p:nvSpPr>
        <p:spPr>
          <a:xfrm>
            <a:off x="6572086" y="5229094"/>
            <a:ext cx="2447483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确认键：</a:t>
            </a: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CLICK用于菜单选择与游戏确认</a:t>
            </a:r>
            <a:endParaRPr lang="en-US" sz="1050" dirty="0"/>
          </a:p>
        </p:txBody>
      </p:sp>
      <p:sp>
        <p:nvSpPr>
          <p:cNvPr id="42" name="Text 26"/>
          <p:cNvSpPr/>
          <p:nvPr/>
        </p:nvSpPr>
        <p:spPr>
          <a:xfrm>
            <a:off x="380990" y="6476838"/>
            <a:ext cx="1571205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SYS.VER.1.0 // 2026.04.18</a:t>
            </a:r>
            <a:endParaRPr lang="en-US" sz="900" dirty="0"/>
          </a:p>
        </p:txBody>
      </p:sp>
      <p:sp>
        <p:nvSpPr>
          <p:cNvPr id="43" name="Text 27"/>
          <p:cNvSpPr/>
          <p:nvPr/>
        </p:nvSpPr>
        <p:spPr>
          <a:xfrm>
            <a:off x="10782030" y="6476838"/>
            <a:ext cx="1047343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1280×720 // 60Hz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990" y="380990"/>
            <a:ext cx="761981" cy="761981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8724" y="380990"/>
            <a:ext cx="761981" cy="76198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990" y="5714857"/>
            <a:ext cx="761981" cy="761981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8724" y="5714857"/>
            <a:ext cx="761981" cy="76198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585" y="533387"/>
            <a:ext cx="457189" cy="9525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1219170" y="457189"/>
            <a:ext cx="1685502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Innovation</a:t>
            </a:r>
            <a:endParaRPr lang="en-US" sz="900" dirty="0"/>
          </a:p>
        </p:txBody>
      </p:sp>
      <p:sp>
        <p:nvSpPr>
          <p:cNvPr id="9" name="Text 1"/>
          <p:cNvSpPr/>
          <p:nvPr/>
        </p:nvSpPr>
        <p:spPr>
          <a:xfrm>
            <a:off x="609585" y="685783"/>
            <a:ext cx="10981670" cy="380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项目创新亮点</a:t>
            </a:r>
            <a:endParaRPr lang="en-US" sz="2700" dirty="0"/>
          </a:p>
        </p:txBody>
      </p:sp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585" y="1333467"/>
            <a:ext cx="190495" cy="190495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914377" y="1295368"/>
            <a:ext cx="752075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技术挑战</a:t>
            </a:r>
            <a:endParaRPr lang="en-US" sz="1500" dirty="0"/>
          </a:p>
        </p:txBody>
      </p:sp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585" y="1752556"/>
            <a:ext cx="5295768" cy="1447764"/>
          </a:xfrm>
          <a:prstGeom prst="rect">
            <a:avLst/>
          </a:prstGeom>
        </p:spPr>
      </p:pic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9605" y="2257369"/>
            <a:ext cx="304792" cy="304792"/>
          </a:xfrm>
          <a:prstGeom prst="rect">
            <a:avLst/>
          </a:prstGeom>
        </p:spPr>
      </p:pic>
      <p:pic>
        <p:nvPicPr>
          <p:cNvPr id="14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5328" y="2343091"/>
            <a:ext cx="133347" cy="133347"/>
          </a:xfrm>
          <a:prstGeom prst="rect">
            <a:avLst/>
          </a:prstGeom>
        </p:spPr>
      </p:pic>
      <p:sp>
        <p:nvSpPr>
          <p:cNvPr id="15" name="Text 3"/>
          <p:cNvSpPr/>
          <p:nvPr/>
        </p:nvSpPr>
        <p:spPr>
          <a:xfrm>
            <a:off x="1228694" y="2238319"/>
            <a:ext cx="3780950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算力瓶颈</a:t>
            </a:r>
            <a:endParaRPr lang="en-US" sz="1200" dirty="0"/>
          </a:p>
        </p:txBody>
      </p:sp>
      <p:sp>
        <p:nvSpPr>
          <p:cNvPr id="16" name="Text 4"/>
          <p:cNvSpPr/>
          <p:nvPr/>
        </p:nvSpPr>
        <p:spPr>
          <a:xfrm>
            <a:off x="1228694" y="2505012"/>
            <a:ext cx="3780950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51单片机</a:t>
            </a: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无硬件乘除法器</a:t>
            </a: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，主频极低，难以支撑实时3D计算需求</a:t>
            </a:r>
            <a:endParaRPr lang="en-US" sz="1050" dirty="0"/>
          </a:p>
        </p:txBody>
      </p:sp>
      <p:pic>
        <p:nvPicPr>
          <p:cNvPr id="17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585" y="3352716"/>
            <a:ext cx="5295768" cy="1447764"/>
          </a:xfrm>
          <a:prstGeom prst="rect">
            <a:avLst/>
          </a:prstGeom>
        </p:spPr>
      </p:pic>
      <p:pic>
        <p:nvPicPr>
          <p:cNvPr id="18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9605" y="3857529"/>
            <a:ext cx="304792" cy="304792"/>
          </a:xfrm>
          <a:prstGeom prst="rect">
            <a:avLst/>
          </a:prstGeom>
        </p:spPr>
      </p:pic>
      <p:pic>
        <p:nvPicPr>
          <p:cNvPr id="19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5328" y="3943251"/>
            <a:ext cx="152396" cy="133347"/>
          </a:xfrm>
          <a:prstGeom prst="rect">
            <a:avLst/>
          </a:prstGeom>
        </p:spPr>
      </p:pic>
      <p:sp>
        <p:nvSpPr>
          <p:cNvPr id="20" name="Text 5"/>
          <p:cNvSpPr/>
          <p:nvPr/>
        </p:nvSpPr>
        <p:spPr>
          <a:xfrm>
            <a:off x="1228694" y="3838479"/>
            <a:ext cx="3914296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内存限制</a:t>
            </a:r>
            <a:endParaRPr lang="en-US" sz="1200" dirty="0"/>
          </a:p>
        </p:txBody>
      </p:sp>
      <p:sp>
        <p:nvSpPr>
          <p:cNvPr id="21" name="Text 6"/>
          <p:cNvSpPr/>
          <p:nvPr/>
        </p:nvSpPr>
        <p:spPr>
          <a:xfrm>
            <a:off x="1228694" y="4105172"/>
            <a:ext cx="3914296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RAM空间极小，</a:t>
            </a: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无法支持浮点运算</a:t>
            </a: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与复杂数据结构，堆栈资源紧张</a:t>
            </a:r>
            <a:endParaRPr lang="en-US" sz="1050" dirty="0"/>
          </a:p>
        </p:txBody>
      </p:sp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585" y="4952876"/>
            <a:ext cx="5295768" cy="1447764"/>
          </a:xfrm>
          <a:prstGeom prst="rect">
            <a:avLst/>
          </a:prstGeom>
        </p:spPr>
      </p:pic>
      <p:pic>
        <p:nvPicPr>
          <p:cNvPr id="23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9605" y="5457689"/>
            <a:ext cx="304792" cy="304792"/>
          </a:xfrm>
          <a:prstGeom prst="rect">
            <a:avLst/>
          </a:prstGeom>
        </p:spPr>
      </p:pic>
      <p:pic>
        <p:nvPicPr>
          <p:cNvPr id="24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5328" y="5543411"/>
            <a:ext cx="133347" cy="133347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1228694" y="5438639"/>
            <a:ext cx="3333286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显示限制</a:t>
            </a:r>
            <a:endParaRPr lang="en-US" sz="1200" dirty="0"/>
          </a:p>
        </p:txBody>
      </p:sp>
      <p:sp>
        <p:nvSpPr>
          <p:cNvPr id="26" name="Text 8"/>
          <p:cNvSpPr/>
          <p:nvPr/>
        </p:nvSpPr>
        <p:spPr>
          <a:xfrm>
            <a:off x="1228694" y="5705332"/>
            <a:ext cx="3333286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12864 LCD</a:t>
            </a: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分辨率极低（128×64），且对刷新率要求苛刻</a:t>
            </a:r>
            <a:endParaRPr lang="en-US" sz="1050" dirty="0"/>
          </a:p>
        </p:txBody>
      </p:sp>
      <p:pic>
        <p:nvPicPr>
          <p:cNvPr id="27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86343" y="1333467"/>
            <a:ext cx="142871" cy="190495"/>
          </a:xfrm>
          <a:prstGeom prst="rect">
            <a:avLst/>
          </a:prstGeom>
        </p:spPr>
      </p:pic>
      <p:sp>
        <p:nvSpPr>
          <p:cNvPr id="28" name="Text 9"/>
          <p:cNvSpPr/>
          <p:nvPr/>
        </p:nvSpPr>
        <p:spPr>
          <a:xfrm>
            <a:off x="6543511" y="1295368"/>
            <a:ext cx="1314036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创新方案与亮点</a:t>
            </a:r>
            <a:endParaRPr lang="en-US" sz="1500" dirty="0"/>
          </a:p>
        </p:txBody>
      </p:sp>
      <p:pic>
        <p:nvPicPr>
          <p:cNvPr id="2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86343" y="1752556"/>
            <a:ext cx="5295768" cy="1447764"/>
          </a:xfrm>
          <a:prstGeom prst="rect">
            <a:avLst/>
          </a:prstGeom>
        </p:spPr>
      </p:pic>
      <p:pic>
        <p:nvPicPr>
          <p:cNvPr id="3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86363" y="1990675"/>
            <a:ext cx="152396" cy="152396"/>
          </a:xfrm>
          <a:prstGeom prst="rect">
            <a:avLst/>
          </a:prstGeom>
        </p:spPr>
      </p:pic>
      <p:sp>
        <p:nvSpPr>
          <p:cNvPr id="31" name="Text 10"/>
          <p:cNvSpPr/>
          <p:nvPr/>
        </p:nvSpPr>
        <p:spPr>
          <a:xfrm>
            <a:off x="6714957" y="1952576"/>
            <a:ext cx="933046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突破性3D渲染</a:t>
            </a:r>
            <a:endParaRPr lang="en-US" sz="1200" dirty="0"/>
          </a:p>
        </p:txBody>
      </p:sp>
      <p:sp>
        <p:nvSpPr>
          <p:cNvPr id="32" name="Text 11"/>
          <p:cNvSpPr/>
          <p:nvPr/>
        </p:nvSpPr>
        <p:spPr>
          <a:xfrm>
            <a:off x="6486363" y="2333567"/>
            <a:ext cx="56768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050" dirty="0"/>
          </a:p>
        </p:txBody>
      </p:sp>
      <p:sp>
        <p:nvSpPr>
          <p:cNvPr id="33" name="Text 12"/>
          <p:cNvSpPr/>
          <p:nvPr/>
        </p:nvSpPr>
        <p:spPr>
          <a:xfrm>
            <a:off x="6610185" y="2295468"/>
            <a:ext cx="3352335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采用</a:t>
            </a: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光线投射算法</a:t>
            </a: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，将2D地图实时转换为伪3D透视画面</a:t>
            </a:r>
            <a:endParaRPr lang="en-US" sz="1050" dirty="0"/>
          </a:p>
        </p:txBody>
      </p:sp>
      <p:sp>
        <p:nvSpPr>
          <p:cNvPr id="34" name="Text 13"/>
          <p:cNvSpPr/>
          <p:nvPr/>
        </p:nvSpPr>
        <p:spPr>
          <a:xfrm>
            <a:off x="6486363" y="2666933"/>
            <a:ext cx="56768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050" dirty="0"/>
          </a:p>
        </p:txBody>
      </p:sp>
      <p:sp>
        <p:nvSpPr>
          <p:cNvPr id="35" name="Text 14"/>
          <p:cNvSpPr/>
          <p:nvPr/>
        </p:nvSpPr>
        <p:spPr>
          <a:xfrm>
            <a:off x="6610185" y="2628834"/>
            <a:ext cx="3904772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</a:t>
            </a: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256倍定点数</a:t>
            </a: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替代浮点运算，在无FPU的MCU上实现精确计算</a:t>
            </a:r>
            <a:endParaRPr lang="en-US" sz="1050" dirty="0"/>
          </a:p>
        </p:txBody>
      </p:sp>
      <p:pic>
        <p:nvPicPr>
          <p:cNvPr id="36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86343" y="3352716"/>
            <a:ext cx="5295768" cy="1447764"/>
          </a:xfrm>
          <a:prstGeom prst="rect">
            <a:avLst/>
          </a:prstGeom>
        </p:spPr>
      </p:pic>
      <p:pic>
        <p:nvPicPr>
          <p:cNvPr id="37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86363" y="3590835"/>
            <a:ext cx="152396" cy="152396"/>
          </a:xfrm>
          <a:prstGeom prst="rect">
            <a:avLst/>
          </a:prstGeom>
        </p:spPr>
      </p:pic>
      <p:sp>
        <p:nvSpPr>
          <p:cNvPr id="38" name="Text 15"/>
          <p:cNvSpPr/>
          <p:nvPr/>
        </p:nvSpPr>
        <p:spPr>
          <a:xfrm>
            <a:off x="6714957" y="3552736"/>
            <a:ext cx="904472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完整游戏架构</a:t>
            </a:r>
            <a:endParaRPr lang="en-US" sz="1200" dirty="0"/>
          </a:p>
        </p:txBody>
      </p:sp>
      <p:sp>
        <p:nvSpPr>
          <p:cNvPr id="39" name="Text 16"/>
          <p:cNvSpPr/>
          <p:nvPr/>
        </p:nvSpPr>
        <p:spPr>
          <a:xfrm>
            <a:off x="6486363" y="3933727"/>
            <a:ext cx="56768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050" dirty="0"/>
          </a:p>
        </p:txBody>
      </p:sp>
      <p:sp>
        <p:nvSpPr>
          <p:cNvPr id="40" name="Text 17"/>
          <p:cNvSpPr/>
          <p:nvPr/>
        </p:nvSpPr>
        <p:spPr>
          <a:xfrm>
            <a:off x="6610185" y="3895628"/>
            <a:ext cx="3552355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</a:t>
            </a: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状态机</a:t>
            </a: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设计，实现菜单、游戏、暂停等多界面无缝切换</a:t>
            </a:r>
            <a:endParaRPr lang="en-US" sz="1050" dirty="0"/>
          </a:p>
        </p:txBody>
      </p:sp>
      <p:sp>
        <p:nvSpPr>
          <p:cNvPr id="41" name="Text 18"/>
          <p:cNvSpPr/>
          <p:nvPr/>
        </p:nvSpPr>
        <p:spPr>
          <a:xfrm>
            <a:off x="6486363" y="4267093"/>
            <a:ext cx="56768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050" dirty="0"/>
          </a:p>
        </p:txBody>
      </p:sp>
      <p:sp>
        <p:nvSpPr>
          <p:cNvPr id="42" name="Text 19"/>
          <p:cNvSpPr/>
          <p:nvPr/>
        </p:nvSpPr>
        <p:spPr>
          <a:xfrm>
            <a:off x="6610185" y="4228994"/>
            <a:ext cx="3152315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高度</a:t>
            </a: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模块化</a:t>
            </a: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代码，显示、控制、音效、逻辑独立解耦</a:t>
            </a:r>
            <a:endParaRPr lang="en-US" sz="1050" dirty="0"/>
          </a:p>
        </p:txBody>
      </p:sp>
      <p:pic>
        <p:nvPicPr>
          <p:cNvPr id="43" name="Image 2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86343" y="4952876"/>
            <a:ext cx="5295768" cy="1447764"/>
          </a:xfrm>
          <a:prstGeom prst="rect">
            <a:avLst/>
          </a:prstGeom>
        </p:spPr>
      </p:pic>
      <p:pic>
        <p:nvPicPr>
          <p:cNvPr id="44" name="Image 2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86363" y="5190995"/>
            <a:ext cx="152396" cy="152396"/>
          </a:xfrm>
          <a:prstGeom prst="rect">
            <a:avLst/>
          </a:prstGeom>
        </p:spPr>
      </p:pic>
      <p:sp>
        <p:nvSpPr>
          <p:cNvPr id="45" name="Text 20"/>
          <p:cNvSpPr/>
          <p:nvPr/>
        </p:nvSpPr>
        <p:spPr>
          <a:xfrm>
            <a:off x="6714957" y="5152896"/>
            <a:ext cx="1056868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音效与交互融合</a:t>
            </a:r>
            <a:endParaRPr lang="en-US" sz="1200" dirty="0"/>
          </a:p>
        </p:txBody>
      </p:sp>
      <p:sp>
        <p:nvSpPr>
          <p:cNvPr id="46" name="Text 21"/>
          <p:cNvSpPr/>
          <p:nvPr/>
        </p:nvSpPr>
        <p:spPr>
          <a:xfrm>
            <a:off x="6486363" y="5533887"/>
            <a:ext cx="56768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050" dirty="0"/>
          </a:p>
        </p:txBody>
      </p:sp>
      <p:sp>
        <p:nvSpPr>
          <p:cNvPr id="47" name="Text 22"/>
          <p:cNvSpPr/>
          <p:nvPr/>
        </p:nvSpPr>
        <p:spPr>
          <a:xfrm>
            <a:off x="6610185" y="5495788"/>
            <a:ext cx="3819049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</a:t>
            </a: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定时器中断</a:t>
            </a: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实现非阻塞式背景音乐，零开销不影响渲染帧率</a:t>
            </a:r>
            <a:endParaRPr lang="en-US" sz="1050" dirty="0"/>
          </a:p>
        </p:txBody>
      </p:sp>
      <p:sp>
        <p:nvSpPr>
          <p:cNvPr id="48" name="Text 23"/>
          <p:cNvSpPr/>
          <p:nvPr/>
        </p:nvSpPr>
        <p:spPr>
          <a:xfrm>
            <a:off x="380990" y="6476838"/>
            <a:ext cx="2161740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INNOVATION.REPORT // 2026.04.18</a:t>
            </a:r>
            <a:endParaRPr lang="en-US" sz="900" dirty="0"/>
          </a:p>
        </p:txBody>
      </p:sp>
      <p:sp>
        <p:nvSpPr>
          <p:cNvPr id="49" name="Text 24"/>
          <p:cNvSpPr/>
          <p:nvPr/>
        </p:nvSpPr>
        <p:spPr>
          <a:xfrm>
            <a:off x="10782030" y="6476838"/>
            <a:ext cx="1047343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1280×720 // 60Hz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990" y="380990"/>
            <a:ext cx="761981" cy="761981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8724" y="380990"/>
            <a:ext cx="761981" cy="76198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990" y="5714857"/>
            <a:ext cx="761981" cy="761981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8724" y="5714857"/>
            <a:ext cx="761981" cy="76198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585" y="533387"/>
            <a:ext cx="457189" cy="9525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1219170" y="457189"/>
            <a:ext cx="1161640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Status</a:t>
            </a:r>
            <a:endParaRPr lang="en-US" sz="900" dirty="0"/>
          </a:p>
        </p:txBody>
      </p:sp>
      <p:sp>
        <p:nvSpPr>
          <p:cNvPr id="9" name="Text 1"/>
          <p:cNvSpPr/>
          <p:nvPr/>
        </p:nvSpPr>
        <p:spPr>
          <a:xfrm>
            <a:off x="609585" y="685783"/>
            <a:ext cx="10981670" cy="380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完成情况总结</a:t>
            </a:r>
            <a:endParaRPr lang="en-US" sz="2700" dirty="0"/>
          </a:p>
        </p:txBody>
      </p:sp>
      <p:sp>
        <p:nvSpPr>
          <p:cNvPr id="10" name="Text 2"/>
          <p:cNvSpPr/>
          <p:nvPr/>
        </p:nvSpPr>
        <p:spPr>
          <a:xfrm>
            <a:off x="609585" y="1181070"/>
            <a:ext cx="7324161" cy="247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客观评估当前开发进度，明确已实现的核心功能与待优化的技术债务。</a:t>
            </a:r>
            <a:endParaRPr lang="en-US" sz="1200" dirty="0"/>
          </a:p>
        </p:txBody>
      </p:sp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585" y="1657309"/>
            <a:ext cx="5333867" cy="4743331"/>
          </a:xfrm>
          <a:prstGeom prst="rect">
            <a:avLst/>
          </a:prstGeom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110" y="1666833"/>
            <a:ext cx="5314817" cy="733407"/>
          </a:xfrm>
          <a:prstGeom prst="rect">
            <a:avLst/>
          </a:prstGeom>
        </p:spPr>
      </p:pic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704" y="1914477"/>
            <a:ext cx="228594" cy="228594"/>
          </a:xfrm>
          <a:prstGeom prst="rect">
            <a:avLst/>
          </a:prstGeom>
        </p:spPr>
      </p:pic>
      <p:sp>
        <p:nvSpPr>
          <p:cNvPr id="14" name="Text 3"/>
          <p:cNvSpPr/>
          <p:nvPr/>
        </p:nvSpPr>
        <p:spPr>
          <a:xfrm>
            <a:off x="1190595" y="1895428"/>
            <a:ext cx="942571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已完成功能</a:t>
            </a:r>
            <a:endParaRPr lang="en-US" sz="1500" dirty="0"/>
          </a:p>
        </p:txBody>
      </p:sp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7704" y="2676458"/>
            <a:ext cx="171446" cy="133347"/>
          </a:xfrm>
          <a:prstGeom prst="rect">
            <a:avLst/>
          </a:prstGeom>
        </p:spPr>
      </p:pic>
      <p:sp>
        <p:nvSpPr>
          <p:cNvPr id="16" name="Text 4"/>
          <p:cNvSpPr/>
          <p:nvPr/>
        </p:nvSpPr>
        <p:spPr>
          <a:xfrm>
            <a:off x="1095348" y="2657409"/>
            <a:ext cx="609204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核心玩法</a:t>
            </a:r>
            <a:endParaRPr lang="en-US" sz="1200" dirty="0"/>
          </a:p>
        </p:txBody>
      </p:sp>
      <p:sp>
        <p:nvSpPr>
          <p:cNvPr id="17" name="Text 5"/>
          <p:cNvSpPr/>
          <p:nvPr/>
        </p:nvSpPr>
        <p:spPr>
          <a:xfrm>
            <a:off x="1076298" y="2952676"/>
            <a:ext cx="142491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8" name="Text 6"/>
          <p:cNvSpPr/>
          <p:nvPr/>
        </p:nvSpPr>
        <p:spPr>
          <a:xfrm>
            <a:off x="1285843" y="2933627"/>
            <a:ext cx="980670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光线投射3D渲染</a:t>
            </a:r>
            <a:endParaRPr lang="en-US" sz="1050" dirty="0"/>
          </a:p>
        </p:txBody>
      </p:sp>
      <p:sp>
        <p:nvSpPr>
          <p:cNvPr id="19" name="Text 7"/>
          <p:cNvSpPr/>
          <p:nvPr/>
        </p:nvSpPr>
        <p:spPr>
          <a:xfrm>
            <a:off x="1076298" y="3228894"/>
            <a:ext cx="142491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20" name="Text 8"/>
          <p:cNvSpPr/>
          <p:nvPr/>
        </p:nvSpPr>
        <p:spPr>
          <a:xfrm>
            <a:off x="1285843" y="3209845"/>
            <a:ext cx="1609304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玩家移动、转向与碰撞检测</a:t>
            </a:r>
            <a:endParaRPr lang="en-US" sz="1050" dirty="0"/>
          </a:p>
        </p:txBody>
      </p:sp>
      <p:sp>
        <p:nvSpPr>
          <p:cNvPr id="21" name="Text 9"/>
          <p:cNvSpPr/>
          <p:nvPr/>
        </p:nvSpPr>
        <p:spPr>
          <a:xfrm>
            <a:off x="1076298" y="3505112"/>
            <a:ext cx="142491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22" name="Text 10"/>
          <p:cNvSpPr/>
          <p:nvPr/>
        </p:nvSpPr>
        <p:spPr>
          <a:xfrm>
            <a:off x="1285843" y="3486063"/>
            <a:ext cx="1152115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16×16固定迷宫地图</a:t>
            </a:r>
            <a:endParaRPr lang="en-US" sz="1050" dirty="0"/>
          </a:p>
        </p:txBody>
      </p:sp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7704" y="3962301"/>
            <a:ext cx="133347" cy="133347"/>
          </a:xfrm>
          <a:prstGeom prst="rect">
            <a:avLst/>
          </a:prstGeom>
        </p:spPr>
      </p:pic>
      <p:sp>
        <p:nvSpPr>
          <p:cNvPr id="24" name="Text 11"/>
          <p:cNvSpPr/>
          <p:nvPr/>
        </p:nvSpPr>
        <p:spPr>
          <a:xfrm>
            <a:off x="1057249" y="3943251"/>
            <a:ext cx="609204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完整流程</a:t>
            </a:r>
            <a:endParaRPr lang="en-US" sz="1200" dirty="0"/>
          </a:p>
        </p:txBody>
      </p:sp>
      <p:sp>
        <p:nvSpPr>
          <p:cNvPr id="25" name="Text 12"/>
          <p:cNvSpPr/>
          <p:nvPr/>
        </p:nvSpPr>
        <p:spPr>
          <a:xfrm>
            <a:off x="1076298" y="4238519"/>
            <a:ext cx="142491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26" name="Text 13"/>
          <p:cNvSpPr/>
          <p:nvPr/>
        </p:nvSpPr>
        <p:spPr>
          <a:xfrm>
            <a:off x="1285843" y="4219470"/>
            <a:ext cx="1875997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主菜单、游戏、暂停、设置界面</a:t>
            </a:r>
            <a:endParaRPr lang="en-US" sz="1050" dirty="0"/>
          </a:p>
        </p:txBody>
      </p:sp>
      <p:sp>
        <p:nvSpPr>
          <p:cNvPr id="27" name="Text 14"/>
          <p:cNvSpPr/>
          <p:nvPr/>
        </p:nvSpPr>
        <p:spPr>
          <a:xfrm>
            <a:off x="1076298" y="4505212"/>
            <a:ext cx="142491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28" name="Text 15"/>
          <p:cNvSpPr/>
          <p:nvPr/>
        </p:nvSpPr>
        <p:spPr>
          <a:xfrm>
            <a:off x="1285843" y="4486163"/>
            <a:ext cx="1142591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5按键交互控制系统</a:t>
            </a:r>
            <a:endParaRPr lang="en-US" sz="1050" dirty="0"/>
          </a:p>
        </p:txBody>
      </p:sp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7704" y="4962401"/>
            <a:ext cx="133347" cy="133347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1057249" y="4943351"/>
            <a:ext cx="609204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音效系统</a:t>
            </a:r>
            <a:endParaRPr lang="en-US" sz="1200" dirty="0"/>
          </a:p>
        </p:txBody>
      </p:sp>
      <p:sp>
        <p:nvSpPr>
          <p:cNvPr id="31" name="Text 17"/>
          <p:cNvSpPr/>
          <p:nvPr/>
        </p:nvSpPr>
        <p:spPr>
          <a:xfrm>
            <a:off x="1076298" y="5238619"/>
            <a:ext cx="142491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32" name="Text 18"/>
          <p:cNvSpPr/>
          <p:nvPr/>
        </p:nvSpPr>
        <p:spPr>
          <a:xfrm>
            <a:off x="1285843" y="5219570"/>
            <a:ext cx="1075917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可开关的背景音乐</a:t>
            </a:r>
            <a:endParaRPr lang="en-US" sz="105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244" y="1657309"/>
            <a:ext cx="5333867" cy="4743331"/>
          </a:xfrm>
          <a:prstGeom prst="rect">
            <a:avLst/>
          </a:prstGeom>
        </p:spPr>
      </p:pic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57769" y="1666833"/>
            <a:ext cx="5314817" cy="733407"/>
          </a:xfrm>
          <a:prstGeom prst="rect">
            <a:avLst/>
          </a:prstGeom>
        </p:spPr>
      </p:pic>
      <p:pic>
        <p:nvPicPr>
          <p:cNvPr id="35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86363" y="1914477"/>
            <a:ext cx="228594" cy="228594"/>
          </a:xfrm>
          <a:prstGeom prst="rect">
            <a:avLst/>
          </a:prstGeom>
        </p:spPr>
      </p:pic>
      <p:sp>
        <p:nvSpPr>
          <p:cNvPr id="36" name="Text 19"/>
          <p:cNvSpPr/>
          <p:nvPr/>
        </p:nvSpPr>
        <p:spPr>
          <a:xfrm>
            <a:off x="6829254" y="1895428"/>
            <a:ext cx="1180690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未完成/待优化</a:t>
            </a:r>
            <a:endParaRPr lang="en-US" sz="1500" dirty="0"/>
          </a:p>
        </p:txBody>
      </p:sp>
      <p:pic>
        <p:nvPicPr>
          <p:cNvPr id="3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86363" y="2676458"/>
            <a:ext cx="123822" cy="133347"/>
          </a:xfrm>
          <a:prstGeom prst="rect">
            <a:avLst/>
          </a:prstGeom>
        </p:spPr>
      </p:pic>
      <p:sp>
        <p:nvSpPr>
          <p:cNvPr id="38" name="Text 20"/>
          <p:cNvSpPr/>
          <p:nvPr/>
        </p:nvSpPr>
        <p:spPr>
          <a:xfrm>
            <a:off x="6686383" y="2657409"/>
            <a:ext cx="609204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记录功能</a:t>
            </a:r>
            <a:endParaRPr lang="en-US" sz="1200" dirty="0"/>
          </a:p>
        </p:txBody>
      </p:sp>
      <p:sp>
        <p:nvSpPr>
          <p:cNvPr id="39" name="Text 21"/>
          <p:cNvSpPr/>
          <p:nvPr/>
        </p:nvSpPr>
        <p:spPr>
          <a:xfrm>
            <a:off x="6714957" y="2952676"/>
            <a:ext cx="75817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50" dirty="0"/>
          </a:p>
        </p:txBody>
      </p:sp>
      <p:sp>
        <p:nvSpPr>
          <p:cNvPr id="40" name="Text 22"/>
          <p:cNvSpPr/>
          <p:nvPr/>
        </p:nvSpPr>
        <p:spPr>
          <a:xfrm>
            <a:off x="6857829" y="2933627"/>
            <a:ext cx="2142691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历史得分存储与显示功能未完全实现</a:t>
            </a:r>
            <a:endParaRPr lang="en-US" sz="1050" dirty="0"/>
          </a:p>
        </p:txBody>
      </p:sp>
      <p:pic>
        <p:nvPicPr>
          <p:cNvPr id="41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86363" y="3409865"/>
            <a:ext cx="133347" cy="133347"/>
          </a:xfrm>
          <a:prstGeom prst="rect">
            <a:avLst/>
          </a:prstGeom>
        </p:spPr>
      </p:pic>
      <p:sp>
        <p:nvSpPr>
          <p:cNvPr id="42" name="Text 23"/>
          <p:cNvSpPr/>
          <p:nvPr/>
        </p:nvSpPr>
        <p:spPr>
          <a:xfrm>
            <a:off x="6695908" y="3390815"/>
            <a:ext cx="609204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性能优化</a:t>
            </a:r>
            <a:endParaRPr lang="en-US" sz="1200" dirty="0"/>
          </a:p>
        </p:txBody>
      </p:sp>
      <p:sp>
        <p:nvSpPr>
          <p:cNvPr id="43" name="Text 24"/>
          <p:cNvSpPr/>
          <p:nvPr/>
        </p:nvSpPr>
        <p:spPr>
          <a:xfrm>
            <a:off x="6714957" y="3686083"/>
            <a:ext cx="56768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050" dirty="0"/>
          </a:p>
        </p:txBody>
      </p:sp>
      <p:sp>
        <p:nvSpPr>
          <p:cNvPr id="44" name="Text 25"/>
          <p:cNvSpPr/>
          <p:nvPr/>
        </p:nvSpPr>
        <p:spPr>
          <a:xfrm>
            <a:off x="6838779" y="3667033"/>
            <a:ext cx="1609304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渲染帧率有进一步提升空间</a:t>
            </a:r>
            <a:endParaRPr lang="en-US" sz="1050" dirty="0"/>
          </a:p>
        </p:txBody>
      </p:sp>
      <p:pic>
        <p:nvPicPr>
          <p:cNvPr id="45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86363" y="4143271"/>
            <a:ext cx="133347" cy="133347"/>
          </a:xfrm>
          <a:prstGeom prst="rect">
            <a:avLst/>
          </a:prstGeom>
        </p:spPr>
      </p:pic>
      <p:sp>
        <p:nvSpPr>
          <p:cNvPr id="46" name="Text 26"/>
          <p:cNvSpPr/>
          <p:nvPr/>
        </p:nvSpPr>
        <p:spPr>
          <a:xfrm>
            <a:off x="6695908" y="4124222"/>
            <a:ext cx="609204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选做功能</a:t>
            </a:r>
            <a:endParaRPr lang="en-US" sz="1200" dirty="0"/>
          </a:p>
        </p:txBody>
      </p:sp>
      <p:sp>
        <p:nvSpPr>
          <p:cNvPr id="47" name="Text 27"/>
          <p:cNvSpPr/>
          <p:nvPr/>
        </p:nvSpPr>
        <p:spPr>
          <a:xfrm>
            <a:off x="6714957" y="4419490"/>
            <a:ext cx="75817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50" dirty="0"/>
          </a:p>
        </p:txBody>
      </p:sp>
      <p:sp>
        <p:nvSpPr>
          <p:cNvPr id="48" name="Text 28"/>
          <p:cNvSpPr/>
          <p:nvPr/>
        </p:nvSpPr>
        <p:spPr>
          <a:xfrm>
            <a:off x="6857829" y="4400440"/>
            <a:ext cx="809224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随机迷宫生成</a:t>
            </a:r>
            <a:endParaRPr lang="en-US" sz="1050" dirty="0"/>
          </a:p>
        </p:txBody>
      </p:sp>
      <p:sp>
        <p:nvSpPr>
          <p:cNvPr id="49" name="Text 29"/>
          <p:cNvSpPr/>
          <p:nvPr/>
        </p:nvSpPr>
        <p:spPr>
          <a:xfrm>
            <a:off x="6714957" y="4695708"/>
            <a:ext cx="75817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50" dirty="0"/>
          </a:p>
        </p:txBody>
      </p:sp>
      <p:sp>
        <p:nvSpPr>
          <p:cNvPr id="50" name="Text 30"/>
          <p:cNvSpPr/>
          <p:nvPr/>
        </p:nvSpPr>
        <p:spPr>
          <a:xfrm>
            <a:off x="6857829" y="4676658"/>
            <a:ext cx="675877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全景小地图</a:t>
            </a:r>
            <a:endParaRPr lang="en-US" sz="1050" dirty="0"/>
          </a:p>
        </p:txBody>
      </p:sp>
      <p:sp>
        <p:nvSpPr>
          <p:cNvPr id="51" name="Text 31"/>
          <p:cNvSpPr/>
          <p:nvPr/>
        </p:nvSpPr>
        <p:spPr>
          <a:xfrm>
            <a:off x="6714957" y="4962401"/>
            <a:ext cx="75817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50" dirty="0"/>
          </a:p>
        </p:txBody>
      </p:sp>
      <p:sp>
        <p:nvSpPr>
          <p:cNvPr id="52" name="Text 32"/>
          <p:cNvSpPr/>
          <p:nvPr/>
        </p:nvSpPr>
        <p:spPr>
          <a:xfrm>
            <a:off x="6857829" y="4943351"/>
            <a:ext cx="847323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游戏存档/读档</a:t>
            </a:r>
            <a:endParaRPr lang="en-US" sz="1050" dirty="0"/>
          </a:p>
        </p:txBody>
      </p:sp>
      <p:sp>
        <p:nvSpPr>
          <p:cNvPr id="53" name="Text 33"/>
          <p:cNvSpPr/>
          <p:nvPr/>
        </p:nvSpPr>
        <p:spPr>
          <a:xfrm>
            <a:off x="380990" y="6476838"/>
            <a:ext cx="1580730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DEV.STATUS // 2026.04.18</a:t>
            </a:r>
            <a:endParaRPr lang="en-US" sz="900" dirty="0"/>
          </a:p>
        </p:txBody>
      </p:sp>
      <p:sp>
        <p:nvSpPr>
          <p:cNvPr id="54" name="Text 34"/>
          <p:cNvSpPr/>
          <p:nvPr/>
        </p:nvSpPr>
        <p:spPr>
          <a:xfrm>
            <a:off x="10820129" y="6476838"/>
            <a:ext cx="1009244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PROGRESS: 65%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990" y="380990"/>
            <a:ext cx="761981" cy="761981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8724" y="380990"/>
            <a:ext cx="761981" cy="76198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990" y="5714857"/>
            <a:ext cx="761981" cy="761981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8724" y="5714857"/>
            <a:ext cx="761981" cy="76198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67193" y="2200220"/>
            <a:ext cx="609585" cy="95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29174" y="2143071"/>
            <a:ext cx="133347" cy="133347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4917" y="2200220"/>
            <a:ext cx="609585" cy="9525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4762381" y="2581210"/>
            <a:ext cx="2685602" cy="6857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</a:t>
            </a:r>
            <a:endParaRPr lang="en-US" sz="5400" dirty="0"/>
          </a:p>
        </p:txBody>
      </p:sp>
      <p:sp>
        <p:nvSpPr>
          <p:cNvPr id="11" name="Text 1"/>
          <p:cNvSpPr/>
          <p:nvPr/>
        </p:nvSpPr>
        <p:spPr>
          <a:xfrm>
            <a:off x="4952876" y="3495588"/>
            <a:ext cx="2295087" cy="3143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感谢各位老师的聆听与指导</a:t>
            </a:r>
            <a:endParaRPr lang="en-US" sz="1500" dirty="0"/>
          </a:p>
        </p:txBody>
      </p:sp>
      <p:sp>
        <p:nvSpPr>
          <p:cNvPr id="12" name="Text 2"/>
          <p:cNvSpPr/>
          <p:nvPr/>
        </p:nvSpPr>
        <p:spPr>
          <a:xfrm>
            <a:off x="4952876" y="3876578"/>
            <a:ext cx="2295087" cy="3143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欢迎提问与交流</a:t>
            </a:r>
            <a:endParaRPr lang="en-US" sz="1500" dirty="0"/>
          </a:p>
        </p:txBody>
      </p:sp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67253" y="4648084"/>
            <a:ext cx="76198" cy="76198"/>
          </a:xfrm>
          <a:prstGeom prst="rect">
            <a:avLst/>
          </a:prstGeom>
        </p:spPr>
      </p:pic>
      <p:pic>
        <p:nvPicPr>
          <p:cNvPr id="14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57749" y="4648084"/>
            <a:ext cx="76198" cy="76198"/>
          </a:xfrm>
          <a:prstGeom prst="rect">
            <a:avLst/>
          </a:prstGeom>
        </p:spPr>
      </p:pic>
      <p:pic>
        <p:nvPicPr>
          <p:cNvPr id="15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8244" y="4648084"/>
            <a:ext cx="76198" cy="76198"/>
          </a:xfrm>
          <a:prstGeom prst="rect">
            <a:avLst/>
          </a:prstGeom>
        </p:spPr>
      </p:pic>
      <p:sp>
        <p:nvSpPr>
          <p:cNvPr id="16" name="Text 3"/>
          <p:cNvSpPr/>
          <p:nvPr/>
        </p:nvSpPr>
        <p:spPr>
          <a:xfrm>
            <a:off x="380990" y="6476838"/>
            <a:ext cx="2295087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OF PRESENTATION // 2026.04.18</a:t>
            </a:r>
            <a:endParaRPr lang="en-US" sz="900" dirty="0"/>
          </a:p>
        </p:txBody>
      </p:sp>
      <p:sp>
        <p:nvSpPr>
          <p:cNvPr id="17" name="Text 4"/>
          <p:cNvSpPr/>
          <p:nvPr/>
        </p:nvSpPr>
        <p:spPr>
          <a:xfrm>
            <a:off x="10953476" y="6476838"/>
            <a:ext cx="875897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SESSION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854</Words>
  <Application>Microsoft Office PowerPoint</Application>
  <PresentationFormat>宽屏</PresentationFormat>
  <Paragraphs>254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等线</vt:lpstr>
      <vt:lpstr>Arial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敏婷 沈</cp:lastModifiedBy>
  <cp:revision>2</cp:revision>
  <dcterms:created xsi:type="dcterms:W3CDTF">2026-04-18T05:20:46Z</dcterms:created>
  <dcterms:modified xsi:type="dcterms:W3CDTF">2026-04-18T07:31:14Z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00119144030071526726XG1MO2E","ProduceID":"Cjk2OWUzMTE3YmI3ZmUwYjA3MjI0ZmVkMWUzYWQ4MDBiY2U5ZWFfcnJuNWhxXzE3NzY0ODg4Mjg2NzE","ReservedCode1":"iaIdYfHCLmsjt4YnVjj43GzPv2l8LDMu2aUH9JKeRWTymDu5mGL4MwgcAFhqg+0NBMYp9ZJajHnbYD2/NCmwjG+1mFdtz8mo85u735ZeojJs4tOMMNSfu9WrAMSdmU09R/YZeaQvV2txnnTjOeFYIj/t+tUgDZl1dKlkGE+o7ktfu5LpofqlfM92COSomNmWYgjFTQ==","ContentPropagator":"00119144030071526726XG1MO2E","PropagateID":"Cjk2OWUzMTE3YmI3ZmUwYjA3MjI0ZmVkMWUzYWQ4MDBiY2U5ZWFfcnJuNWhxXzE3NzY0ODg4Mjg2NzE","ReservedCode2":"iaIdYfHCLmsjt4YnVjj43GzPv2l8LDMu2aUH9JKeRWTymDu5mGL4MwgcAFhqg+0NBMYp9ZJajHnbYD2/NCmwjG+1mFdtz8mo85u735ZeojJs4tOMMNSfu9WrAMSdmU09R/YZeaQvV2txnnTjOeFYIj/t+tUgDZl1dKlkGE+o7ktfu5LpofqlfM92COSomNmWYgjFTQ=="}</vt:lpwstr>
  </property>
</Properties>
</file>